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45720"/>
            <a:ext cx="1188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 |  WER Performance Trajectory  |  Invasive Brain-to-Speech Decoding (2015–2026)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9601200" cy="521208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2697480" cy="4663440"/>
          </a:xfrm>
          <a:prstGeom prst="rect">
            <a:avLst/>
          </a:prstGeom>
          <a:solidFill>
            <a:srgbClr val="185FA5">
              <a:alpha val="8000"/>
            </a:srgbClr>
          </a:solidFill>
          <a:ln w="6350">
            <a:solidFill>
              <a:srgbClr val="185FA5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217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 foundation era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(2015–2019)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063240" y="594360"/>
            <a:ext cx="1344168" cy="4663440"/>
          </a:xfrm>
          <a:prstGeom prst="rect">
            <a:avLst/>
          </a:prstGeom>
          <a:solidFill>
            <a:srgbClr val="4CAF50">
              <a:alpha val="8000"/>
            </a:srgbClr>
          </a:solidFill>
          <a:ln w="6350">
            <a:solidFill>
              <a:srgbClr val="4CAF50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621792"/>
            <a:ext cx="1344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clinical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neuroprostheses (2020–21)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407408" y="594360"/>
            <a:ext cx="5559552" cy="4663440"/>
          </a:xfrm>
          <a:prstGeom prst="rect">
            <a:avLst/>
          </a:prstGeom>
          <a:solidFill>
            <a:srgbClr val="E65100">
              <a:alpha val="8000"/>
            </a:srgbClr>
          </a:solidFill>
          <a:ln w="6350">
            <a:solidFill>
              <a:srgbClr val="E65100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621792"/>
            <a:ext cx="5559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Intracortical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breakthroughs (2022–2024)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5303520"/>
            <a:ext cx="92811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0248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448360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390144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78256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320040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08152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49936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38048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179832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167944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1097280"/>
            <a:ext cx="9281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97840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07671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791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51413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8533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95155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2275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38896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016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82638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9758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26380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3500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0122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7242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13864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0984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857605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4725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701347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18467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545089" y="5303520"/>
            <a:ext cx="0" cy="73152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62209" y="53309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107671" y="1798320"/>
            <a:ext cx="7593676" cy="315468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  <a:tailEnd type="open"/>
          </a:ln>
        </p:spPr>
      </p:sp>
      <p:sp>
        <p:nvSpPr>
          <p:cNvPr id="47" name="Text 45"/>
          <p:cNvSpPr/>
          <p:nvPr/>
        </p:nvSpPr>
        <p:spPr>
          <a:xfrm rot="-1200000">
            <a:off x="4060767" y="36210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open-vocab trajectory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25375" y="1716024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7631" y="1524000"/>
            <a:ext cx="777240" cy="64008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-126769" y="1158240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Herff et al.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(2015)  25%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244084" y="4800600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26380" y="4425696"/>
            <a:ext cx="182880" cy="822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52060" y="4059936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Makin, Moses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Chang (2020)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⚠ constrained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87826" y="1575816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0122" y="1658112"/>
            <a:ext cx="228600" cy="2743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1522" y="1932432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Moses et al.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(2021)  26%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rot="2700000">
            <a:off x="7775309" y="3959352"/>
            <a:ext cx="16459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0405" y="3813048"/>
            <a:ext cx="914400" cy="5943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6005" y="3447288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Willett et al.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(2023)  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775309" y="1716024"/>
            <a:ext cx="164592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57605" y="1798320"/>
            <a:ext cx="274320" cy="2743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4725" y="2072640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Metzger et al.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(2023)  25%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 rot="2700000">
            <a:off x="8619051" y="4870704"/>
            <a:ext cx="16459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01347" y="4450080"/>
            <a:ext cx="182880" cy="86868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27027" y="4084320"/>
            <a:ext cx="1188720" cy="548640"/>
          </a:xfrm>
          <a:prstGeom prst="rect">
            <a:avLst/>
          </a:prstGeom>
          <a:solidFill>
            <a:srgbClr val="FFFFFF">
              <a:alpha val="85000"/>
            </a:srgbClr>
          </a:solidFill>
          <a:ln w="3810">
            <a:solidFill>
              <a:srgbClr val="EEEEEE"/>
            </a:solidFill>
          </a:ln>
          <a:effectLst>
            <a:outerShdw sx="100000" sy="100000" kx="0" ky="0" algn="bl" rotWithShape="0" blurRad="25400" dist="12700" dir="2700000">
              <a:srgbClr val="AAAAA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et al.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(2024)  2.5%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Current best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929947" y="4678680"/>
            <a:ext cx="1920240" cy="82296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75667" y="46969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Current best WER: 2.5%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et al. 2024 — NEJM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125k-word vocab | 8+ months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 rot="16200000">
            <a:off x="18288" y="2286000"/>
            <a:ext cx="594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Error Rate — WER %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is better  ↓)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11480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year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149840" y="1225296"/>
            <a:ext cx="164592" cy="164592"/>
          </a:xfrm>
          <a:prstGeom prst="ellipse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378440" y="1188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 (overt / attempted speech)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149840" y="1609344"/>
            <a:ext cx="164592" cy="164592"/>
          </a:xfrm>
          <a:prstGeom prst="ellipse">
            <a:avLst/>
          </a:prstGeom>
          <a:solidFill>
            <a:srgbClr val="E6510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78440" y="1572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Intracortical Utah array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149840" y="1993392"/>
            <a:ext cx="164592" cy="164592"/>
          </a:xfrm>
          <a:prstGeom prst="ellipse">
            <a:avLst/>
          </a:prstGeom>
          <a:solidFill>
            <a:srgbClr val="2196F3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78440" y="1956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HD-ECoG (high-density)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149840" y="2377440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78440" y="2340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corpus ⚠ (open-circle marker)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3. WER performance trajectory for invasive brain-to-speech decoding, 2015–2026. Open-circle (Makin 2020) = constrained corpus, not directly comparable to open-vocabulary results. Moses 2021 (anarthria) and Metzger 2023 involve different populations/tasks from Willett 2023 and Card 2024 — see Table 5 (benchmark comparability analysis). Studies reporting accuracy, PCC, CER, or BLEU excluded — see Fig. 4.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104120" y="2926080"/>
            <a:ext cx="1965960" cy="256032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49840" y="29626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Guide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149840" y="3246120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any label to edit text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any marker to change size/color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callout box by dragging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data point: copy a marker + label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year position: drag horizontally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publication: Save As &gt; PNG (300 DPI)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 export via File &gt; Export &gt; PNG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 — WER Performance Trajectory</dc:title>
  <dc:subject>PptxGenJS Presentation</dc:subject>
  <dc:creator>Adeika &amp; Osuagwu</dc:creator>
  <cp:lastModifiedBy>Adeika &amp; Osuagwu</cp:lastModifiedBy>
  <cp:revision>1</cp:revision>
  <dcterms:created xsi:type="dcterms:W3CDTF">2026-05-01T15:36:24Z</dcterms:created>
  <dcterms:modified xsi:type="dcterms:W3CDTF">2026-05-01T15:36:24Z</dcterms:modified>
</cp:coreProperties>
</file>