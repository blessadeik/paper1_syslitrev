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3891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1188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4  |  Modality × Task Performance Heatmap  |  71 Included Studies, 2015–2026  |  Tiers derived from included studies only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993392" y="521208"/>
            <a:ext cx="1975104" cy="329184"/>
          </a:xfrm>
          <a:prstGeom prst="roundRect">
            <a:avLst>
              <a:gd name="adj" fmla="val 11111"/>
            </a:avLst>
          </a:prstGeom>
          <a:solidFill>
            <a:srgbClr val="DEEAF1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93392" y="521208"/>
            <a:ext cx="19751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Overt speech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023360" y="521208"/>
            <a:ext cx="1975104" cy="329184"/>
          </a:xfrm>
          <a:prstGeom prst="roundRect">
            <a:avLst>
              <a:gd name="adj" fmla="val 11111"/>
            </a:avLst>
          </a:prstGeom>
          <a:solidFill>
            <a:srgbClr val="E2EFDA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0" y="521208"/>
            <a:ext cx="19751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Imagined / Covert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053328" y="521208"/>
            <a:ext cx="1975104" cy="329184"/>
          </a:xfrm>
          <a:prstGeom prst="roundRect">
            <a:avLst>
              <a:gd name="adj" fmla="val 11111"/>
            </a:avLst>
          </a:prstGeom>
          <a:solidFill>
            <a:srgbClr val="FFF2CC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53328" y="521208"/>
            <a:ext cx="19751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Attempted / Silent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083296" y="521208"/>
            <a:ext cx="1975104" cy="329184"/>
          </a:xfrm>
          <a:prstGeom prst="roundRect">
            <a:avLst>
              <a:gd name="adj" fmla="val 11111"/>
            </a:avLst>
          </a:prstGeom>
          <a:solidFill>
            <a:srgbClr val="FCE4D6"/>
          </a:solidFill>
          <a:ln w="12700">
            <a:solidFill>
              <a:srgbClr val="843C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83296" y="521208"/>
            <a:ext cx="19751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43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Perceived / Listened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" y="896112"/>
            <a:ext cx="1645920" cy="722376"/>
          </a:xfrm>
          <a:prstGeom prst="rect">
            <a:avLst/>
          </a:prstGeom>
          <a:solidFill>
            <a:srgbClr val="EBF3FB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" y="896112"/>
            <a:ext cx="16459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 (n=22)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93392" y="896112"/>
            <a:ext cx="1975104" cy="722376"/>
          </a:xfrm>
          <a:prstGeom prst="roundRect">
            <a:avLst>
              <a:gd name="adj" fmla="val 7595"/>
            </a:avLst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39112" y="93268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029968" y="1207008"/>
            <a:ext cx="190195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PCC 0.804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(Chen 2024, n=48)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4023360" y="896112"/>
            <a:ext cx="1975104" cy="722376"/>
          </a:xfrm>
          <a:prstGeom prst="roundRect">
            <a:avLst>
              <a:gd name="adj" fmla="val 7595"/>
            </a:avLst>
          </a:prstGeom>
          <a:solidFill>
            <a:srgbClr val="F9A82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69080" y="93268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59936" y="1207008"/>
            <a:ext cx="190195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88% 2-class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(Martin 2016)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6053328" y="896112"/>
            <a:ext cx="1975104" cy="722376"/>
          </a:xfrm>
          <a:prstGeom prst="roundRect">
            <a:avLst>
              <a:gd name="adj" fmla="val 7595"/>
            </a:avLst>
          </a:prstGeom>
          <a:solidFill>
            <a:srgbClr val="F9A82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9048" y="93268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089904" y="1207008"/>
            <a:ext cx="190195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25–26%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(Moses 2021)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8083296" y="896112"/>
            <a:ext cx="1975104" cy="722376"/>
          </a:xfrm>
          <a:prstGeom prst="roundRect">
            <a:avLst>
              <a:gd name="adj" fmla="val 7595"/>
            </a:avLst>
          </a:prstGeom>
          <a:solidFill>
            <a:srgbClr val="F9A82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29016" y="93268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119872" y="1207008"/>
            <a:ext cx="190195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PCC 0.60–0.74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(Akbari 2019)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45720" y="1673352"/>
            <a:ext cx="1645920" cy="722376"/>
          </a:xfrm>
          <a:prstGeom prst="rect">
            <a:avLst/>
          </a:prstGeom>
          <a:solidFill>
            <a:srgbClr val="EBF3FB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" y="1673352"/>
            <a:ext cx="16459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Intracortical (n=8)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993392" y="1673352"/>
            <a:ext cx="1975104" cy="722376"/>
          </a:xfrm>
          <a:prstGeom prst="roundRect">
            <a:avLst>
              <a:gd name="adj" fmla="val 7595"/>
            </a:avLst>
          </a:prstGeom>
          <a:solidFill>
            <a:srgbClr val="BF36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39112" y="170992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029968" y="1984248"/>
            <a:ext cx="190195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evidence</a:t>
            </a:r>
            <a:endParaRPr lang="en-US" sz="650" dirty="0"/>
          </a:p>
          <a:p>
            <a:pPr algn="ctr" indent="0" marL="0">
              <a:buNone/>
            </a:pPr>
            <a:r>
              <a:rPr lang="en-US" sz="6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(Wilson 2020)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4023360" y="1673352"/>
            <a:ext cx="1975104" cy="722376"/>
          </a:xfrm>
          <a:prstGeom prst="roundRect">
            <a:avLst>
              <a:gd name="adj" fmla="val 7595"/>
            </a:avLst>
          </a:prstGeom>
          <a:solidFill>
            <a:srgbClr val="BF36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69080" y="170992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059936" y="1984248"/>
            <a:ext cx="190195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Above-chance only</a:t>
            </a:r>
            <a:endParaRPr lang="en-US" sz="650" dirty="0"/>
          </a:p>
          <a:p>
            <a:pPr algn="ctr" indent="0" marL="0">
              <a:buNone/>
            </a:pPr>
            <a:r>
              <a:rPr lang="en-US" sz="6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(Wandelt 2024)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6053328" y="1673352"/>
            <a:ext cx="1975104" cy="722376"/>
          </a:xfrm>
          <a:prstGeom prst="roundRect">
            <a:avLst>
              <a:gd name="adj" fmla="val 7595"/>
            </a:avLst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99048" y="170992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089904" y="1984248"/>
            <a:ext cx="190195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2.5% / 62 WPM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(Card 2024; Willett 2023)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8083296" y="1673352"/>
            <a:ext cx="1975104" cy="722376"/>
          </a:xfrm>
          <a:prstGeom prst="roundRect">
            <a:avLst>
              <a:gd name="adj" fmla="val 7595"/>
            </a:avLst>
          </a:prstGeom>
          <a:solidFill>
            <a:srgbClr val="BDBDB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29016" y="170992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DEMONSTRATED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119872" y="1984248"/>
            <a:ext cx="190195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included studies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45720" y="2450592"/>
            <a:ext cx="1645920" cy="722376"/>
          </a:xfrm>
          <a:prstGeom prst="rect">
            <a:avLst/>
          </a:prstGeom>
          <a:solidFill>
            <a:srgbClr val="EBF3FB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" y="2450592"/>
            <a:ext cx="16459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sEEG (n=4)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993392" y="2450592"/>
            <a:ext cx="1975104" cy="722376"/>
          </a:xfrm>
          <a:prstGeom prst="roundRect">
            <a:avLst>
              <a:gd name="adj" fmla="val 7595"/>
            </a:avLst>
          </a:prstGeom>
          <a:solidFill>
            <a:srgbClr val="F9A82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39112" y="248716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029968" y="2761488"/>
            <a:ext cx="190195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PCC vs ECoG-comparable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(Kohler 2022)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4023360" y="2450592"/>
            <a:ext cx="1975104" cy="722376"/>
          </a:xfrm>
          <a:prstGeom prst="roundRect">
            <a:avLst>
              <a:gd name="adj" fmla="val 7595"/>
            </a:avLst>
          </a:prstGeom>
          <a:solidFill>
            <a:srgbClr val="F9A82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69080" y="248716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059936" y="2761488"/>
            <a:ext cx="190195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synthesis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(Angrick 2021)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6053328" y="2450592"/>
            <a:ext cx="1975104" cy="722376"/>
          </a:xfrm>
          <a:prstGeom prst="roundRect">
            <a:avLst>
              <a:gd name="adj" fmla="val 7595"/>
            </a:avLst>
          </a:prstGeom>
          <a:solidFill>
            <a:srgbClr val="BF36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99048" y="248716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089904" y="2761488"/>
            <a:ext cx="190195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limited</a:t>
            </a:r>
            <a:endParaRPr lang="en-US" sz="650" dirty="0"/>
          </a:p>
          <a:p>
            <a:pPr algn="ctr" indent="0" marL="0">
              <a:buNone/>
            </a:pPr>
            <a:r>
              <a:rPr lang="en-US" sz="6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(Angrick 2021)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8083296" y="2450592"/>
            <a:ext cx="1975104" cy="722376"/>
          </a:xfrm>
          <a:prstGeom prst="roundRect">
            <a:avLst>
              <a:gd name="adj" fmla="val 7595"/>
            </a:avLst>
          </a:prstGeom>
          <a:solidFill>
            <a:srgbClr val="BDBDB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29016" y="248716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DEMONSTRATED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119872" y="2761488"/>
            <a:ext cx="190195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included studies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45720" y="3227832"/>
            <a:ext cx="1645920" cy="722376"/>
          </a:xfrm>
          <a:prstGeom prst="rect">
            <a:avLst/>
          </a:prstGeom>
          <a:solidFill>
            <a:srgbClr val="EBF3FB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" y="3227832"/>
            <a:ext cx="16459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Scalp EEG (n=20)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993392" y="3227832"/>
            <a:ext cx="1975104" cy="722376"/>
          </a:xfrm>
          <a:prstGeom prst="roundRect">
            <a:avLst>
              <a:gd name="adj" fmla="val 7595"/>
            </a:avLst>
          </a:prstGeom>
          <a:solidFill>
            <a:srgbClr val="BF36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039112" y="326440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029968" y="3538728"/>
            <a:ext cx="190195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Brumberg 2018;</a:t>
            </a:r>
            <a:endParaRPr lang="en-US" sz="650" dirty="0"/>
          </a:p>
          <a:p>
            <a:pPr algn="ctr" indent="0" marL="0">
              <a:buNone/>
            </a:pPr>
            <a:r>
              <a:rPr lang="en-US" sz="6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Craik 2024 (preprint)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4023360" y="3227832"/>
            <a:ext cx="1975104" cy="722376"/>
          </a:xfrm>
          <a:prstGeom prst="roundRect">
            <a:avLst>
              <a:gd name="adj" fmla="val 7595"/>
            </a:avLst>
          </a:prstGeom>
          <a:solidFill>
            <a:srgbClr val="F9A82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69080" y="326440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059936" y="3538728"/>
            <a:ext cx="190195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70–92.5% closed-set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(Abdulghani 2023)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6053328" y="3227832"/>
            <a:ext cx="1975104" cy="722376"/>
          </a:xfrm>
          <a:prstGeom prst="roundRect">
            <a:avLst>
              <a:gd name="adj" fmla="val 7595"/>
            </a:avLst>
          </a:prstGeom>
          <a:solidFill>
            <a:srgbClr val="BF36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099048" y="326440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089904" y="3538728"/>
            <a:ext cx="190195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Singh &amp;</a:t>
            </a:r>
            <a:endParaRPr lang="en-US" sz="650" dirty="0"/>
          </a:p>
          <a:p>
            <a:pPr algn="ctr" indent="0" marL="0">
              <a:buNone/>
            </a:pPr>
            <a:r>
              <a:rPr lang="en-US" sz="6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Gumaste 2020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8083296" y="3227832"/>
            <a:ext cx="1975104" cy="722376"/>
          </a:xfrm>
          <a:prstGeom prst="roundRect">
            <a:avLst>
              <a:gd name="adj" fmla="val 7595"/>
            </a:avLst>
          </a:prstGeom>
          <a:solidFill>
            <a:srgbClr val="F9A82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129016" y="326440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119872" y="3538728"/>
            <a:ext cx="190195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35–45%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(Wang &amp; Ji 2022)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45720" y="4005072"/>
            <a:ext cx="1645920" cy="722376"/>
          </a:xfrm>
          <a:prstGeom prst="rect">
            <a:avLst/>
          </a:prstGeom>
          <a:solidFill>
            <a:srgbClr val="EBF3FB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" y="4005072"/>
            <a:ext cx="16459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 (n=5)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993392" y="4005072"/>
            <a:ext cx="1975104" cy="722376"/>
          </a:xfrm>
          <a:prstGeom prst="roundRect">
            <a:avLst>
              <a:gd name="adj" fmla="val 7595"/>
            </a:avLst>
          </a:prstGeom>
          <a:solidFill>
            <a:srgbClr val="F9A82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039112" y="404164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2029968" y="4315968"/>
            <a:ext cx="190195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Mel-PCC ~0.95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(Kwon 2024, n=4)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4023360" y="4005072"/>
            <a:ext cx="1975104" cy="722376"/>
          </a:xfrm>
          <a:prstGeom prst="roundRect">
            <a:avLst>
              <a:gd name="adj" fmla="val 7595"/>
            </a:avLst>
          </a:prstGeom>
          <a:solidFill>
            <a:srgbClr val="BF36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069080" y="404164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4059936" y="4315968"/>
            <a:ext cx="190195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Limited:</a:t>
            </a:r>
            <a:endParaRPr lang="en-US" sz="650" dirty="0"/>
          </a:p>
          <a:p>
            <a:pPr algn="ctr" indent="0" marL="0">
              <a:buNone/>
            </a:pPr>
            <a:r>
              <a:rPr lang="en-US" sz="6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 2020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6053328" y="4005072"/>
            <a:ext cx="1975104" cy="722376"/>
          </a:xfrm>
          <a:prstGeom prst="roundRect">
            <a:avLst>
              <a:gd name="adj" fmla="val 7595"/>
            </a:avLst>
          </a:prstGeom>
          <a:solidFill>
            <a:srgbClr val="BDBDB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099048" y="404164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DEMONSTRATED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6089904" y="4315968"/>
            <a:ext cx="190195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included</a:t>
            </a:r>
            <a:endParaRPr lang="en-US" sz="650" dirty="0"/>
          </a:p>
          <a:p>
            <a:pPr algn="ctr" indent="0" marL="0">
              <a:buNone/>
            </a:pPr>
            <a:r>
              <a:rPr lang="en-US" sz="650" i="1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studies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8083296" y="4005072"/>
            <a:ext cx="1975104" cy="722376"/>
          </a:xfrm>
          <a:prstGeom prst="roundRect">
            <a:avLst>
              <a:gd name="adj" fmla="val 7595"/>
            </a:avLst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129016" y="404164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8119872" y="4315968"/>
            <a:ext cx="190195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 41%; n=723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(Défossez 2023)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45720" y="4782312"/>
            <a:ext cx="1645920" cy="722376"/>
          </a:xfrm>
          <a:prstGeom prst="rect">
            <a:avLst/>
          </a:prstGeom>
          <a:solidFill>
            <a:srgbClr val="EBF3FB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5720" y="4782312"/>
            <a:ext cx="16459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fMRI (n=6)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1993392" y="4782312"/>
            <a:ext cx="1975104" cy="722376"/>
          </a:xfrm>
          <a:prstGeom prst="roundRect">
            <a:avLst>
              <a:gd name="adj" fmla="val 7595"/>
            </a:avLst>
          </a:prstGeom>
          <a:solidFill>
            <a:srgbClr val="4242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039112" y="481888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FEASIBLE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2029968" y="5093208"/>
            <a:ext cx="190195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 ~5 s lag</a:t>
            </a:r>
            <a:endParaRPr lang="en-US" sz="600" dirty="0"/>
          </a:p>
          <a:p>
            <a:pPr algn="ctr" indent="0" marL="0">
              <a:buNone/>
            </a:pPr>
            <a:r>
              <a:rPr lang="en-US" sz="6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feasible</a:t>
            </a:r>
            <a:endParaRPr lang="en-US" sz="600" dirty="0"/>
          </a:p>
        </p:txBody>
      </p:sp>
      <p:sp>
        <p:nvSpPr>
          <p:cNvPr id="87" name="Shape 85"/>
          <p:cNvSpPr/>
          <p:nvPr/>
        </p:nvSpPr>
        <p:spPr>
          <a:xfrm>
            <a:off x="4023360" y="4782312"/>
            <a:ext cx="1975104" cy="722376"/>
          </a:xfrm>
          <a:prstGeom prst="roundRect">
            <a:avLst>
              <a:gd name="adj" fmla="val 7595"/>
            </a:avLst>
          </a:prstGeom>
          <a:solidFill>
            <a:srgbClr val="F9A82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069080" y="481888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4059936" y="5093208"/>
            <a:ext cx="190195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Semantic: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 2023; Yin 2024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6053328" y="4782312"/>
            <a:ext cx="1975104" cy="722376"/>
          </a:xfrm>
          <a:prstGeom prst="roundRect">
            <a:avLst>
              <a:gd name="adj" fmla="val 7595"/>
            </a:avLst>
          </a:prstGeom>
          <a:solidFill>
            <a:srgbClr val="4242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099048" y="481888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FEASIBLE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6089904" y="5093208"/>
            <a:ext cx="190195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 ~5 s lag</a:t>
            </a:r>
            <a:endParaRPr lang="en-US" sz="600" dirty="0"/>
          </a:p>
          <a:p>
            <a:pPr algn="ctr" indent="0" marL="0">
              <a:buNone/>
            </a:pPr>
            <a:r>
              <a:rPr lang="en-US" sz="6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feasible</a:t>
            </a:r>
            <a:endParaRPr lang="en-US" sz="600" dirty="0"/>
          </a:p>
        </p:txBody>
      </p:sp>
      <p:sp>
        <p:nvSpPr>
          <p:cNvPr id="93" name="Shape 91"/>
          <p:cNvSpPr/>
          <p:nvPr/>
        </p:nvSpPr>
        <p:spPr>
          <a:xfrm>
            <a:off x="8083296" y="4782312"/>
            <a:ext cx="1975104" cy="722376"/>
          </a:xfrm>
          <a:prstGeom prst="roundRect">
            <a:avLst>
              <a:gd name="adj" fmla="val 7595"/>
            </a:avLst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129016" y="481888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8119872" y="5093208"/>
            <a:ext cx="190195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story ID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(Tang 2023);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BLEU 27.8% (Yin 2024)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45720" y="5559552"/>
            <a:ext cx="1645920" cy="722376"/>
          </a:xfrm>
          <a:prstGeom prst="rect">
            <a:avLst/>
          </a:prstGeom>
          <a:solidFill>
            <a:srgbClr val="EBF3FB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5720" y="5559552"/>
            <a:ext cx="16459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/ sEMG (n=6)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1993392" y="5559552"/>
            <a:ext cx="1975104" cy="722376"/>
          </a:xfrm>
          <a:prstGeom prst="roundRect">
            <a:avLst>
              <a:gd name="adj" fmla="val 7595"/>
            </a:avLst>
          </a:prstGeom>
          <a:solidFill>
            <a:srgbClr val="F9A82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039112" y="559612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2029968" y="5870448"/>
            <a:ext cx="190195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46.31% EEG+fNIRS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(Cooney 2022)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4023360" y="5559552"/>
            <a:ext cx="1975104" cy="722376"/>
          </a:xfrm>
          <a:prstGeom prst="roundRect">
            <a:avLst>
              <a:gd name="adj" fmla="val 7595"/>
            </a:avLst>
          </a:prstGeom>
          <a:solidFill>
            <a:srgbClr val="F9A82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069080" y="559612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4059936" y="5870448"/>
            <a:ext cx="190195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34.29% imagined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(Cooney 2022)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6053328" y="5559552"/>
            <a:ext cx="1975104" cy="722376"/>
          </a:xfrm>
          <a:prstGeom prst="roundRect">
            <a:avLst>
              <a:gd name="adj" fmla="val 7595"/>
            </a:avLst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099048" y="559612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6089904" y="5870448"/>
            <a:ext cx="190195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 3.11%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(Song 2023, n=15)</a:t>
            </a:r>
            <a:endParaRPr lang="en-US" sz="650" dirty="0"/>
          </a:p>
        </p:txBody>
      </p:sp>
      <p:sp>
        <p:nvSpPr>
          <p:cNvPr id="107" name="Shape 105"/>
          <p:cNvSpPr/>
          <p:nvPr/>
        </p:nvSpPr>
        <p:spPr>
          <a:xfrm>
            <a:off x="8083296" y="5559552"/>
            <a:ext cx="1975104" cy="722376"/>
          </a:xfrm>
          <a:prstGeom prst="roundRect">
            <a:avLst>
              <a:gd name="adj" fmla="val 7595"/>
            </a:avLst>
          </a:prstGeom>
          <a:solidFill>
            <a:srgbClr val="BF36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129016" y="559612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8119872" y="5870448"/>
            <a:ext cx="190195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Limited:</a:t>
            </a:r>
            <a:endParaRPr lang="en-US" sz="650" dirty="0"/>
          </a:p>
          <a:p>
            <a:pPr algn="ctr" indent="0" marL="0">
              <a:buNone/>
            </a:pPr>
            <a:r>
              <a:rPr lang="en-US" sz="6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Hons 2026 only</a:t>
            </a:r>
            <a:endParaRPr lang="en-US" sz="650" dirty="0"/>
          </a:p>
        </p:txBody>
      </p:sp>
      <p:sp>
        <p:nvSpPr>
          <p:cNvPr id="110" name="Shape 108"/>
          <p:cNvSpPr/>
          <p:nvPr/>
        </p:nvSpPr>
        <p:spPr>
          <a:xfrm>
            <a:off x="91440" y="6473952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1B5E20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144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700" dirty="0"/>
          </a:p>
        </p:txBody>
      </p:sp>
      <p:sp>
        <p:nvSpPr>
          <p:cNvPr id="112" name="Text 110"/>
          <p:cNvSpPr/>
          <p:nvPr/>
        </p:nvSpPr>
        <p:spPr>
          <a:xfrm>
            <a:off x="91440" y="676656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studies; competitive metrics</a:t>
            </a:r>
            <a:endParaRPr lang="en-US" sz="650" dirty="0"/>
          </a:p>
        </p:txBody>
      </p:sp>
      <p:sp>
        <p:nvSpPr>
          <p:cNvPr id="113" name="Shape 111"/>
          <p:cNvSpPr/>
          <p:nvPr/>
        </p:nvSpPr>
        <p:spPr>
          <a:xfrm>
            <a:off x="2487168" y="6473952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F9A825"/>
          </a:solidFill>
          <a:ln w="6350">
            <a:solidFill>
              <a:srgbClr val="F9A825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487168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2487168" y="676656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studies; above-chance results</a:t>
            </a:r>
            <a:endParaRPr lang="en-US" sz="650" dirty="0"/>
          </a:p>
        </p:txBody>
      </p:sp>
      <p:sp>
        <p:nvSpPr>
          <p:cNvPr id="116" name="Shape 114"/>
          <p:cNvSpPr/>
          <p:nvPr/>
        </p:nvSpPr>
        <p:spPr>
          <a:xfrm>
            <a:off x="4882896" y="6473952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BF360C"/>
          </a:solidFill>
          <a:ln w="6350">
            <a:solidFill>
              <a:srgbClr val="BF360C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882896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700" dirty="0"/>
          </a:p>
        </p:txBody>
      </p:sp>
      <p:sp>
        <p:nvSpPr>
          <p:cNvPr id="118" name="Text 116"/>
          <p:cNvSpPr/>
          <p:nvPr/>
        </p:nvSpPr>
        <p:spPr>
          <a:xfrm>
            <a:off x="4882896" y="676656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studies; exploratory only</a:t>
            </a:r>
            <a:endParaRPr lang="en-US" sz="650" dirty="0"/>
          </a:p>
        </p:txBody>
      </p:sp>
      <p:sp>
        <p:nvSpPr>
          <p:cNvPr id="119" name="Shape 117"/>
          <p:cNvSpPr/>
          <p:nvPr/>
        </p:nvSpPr>
        <p:spPr>
          <a:xfrm>
            <a:off x="7278624" y="6473952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278624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DEMONSTRATED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7278624" y="676656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included studies</a:t>
            </a:r>
            <a:endParaRPr lang="en-US" sz="650" dirty="0"/>
          </a:p>
        </p:txBody>
      </p:sp>
      <p:sp>
        <p:nvSpPr>
          <p:cNvPr id="122" name="Shape 120"/>
          <p:cNvSpPr/>
          <p:nvPr/>
        </p:nvSpPr>
        <p:spPr>
          <a:xfrm>
            <a:off x="9674352" y="6473952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424242"/>
          </a:solidFill>
          <a:ln w="6350">
            <a:solidFill>
              <a:srgbClr val="424242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967435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FEASIBLE</a:t>
            </a:r>
            <a:endParaRPr lang="en-US" sz="700" dirty="0"/>
          </a:p>
        </p:txBody>
      </p:sp>
      <p:sp>
        <p:nvSpPr>
          <p:cNvPr id="124" name="Text 122"/>
          <p:cNvSpPr/>
          <p:nvPr/>
        </p:nvSpPr>
        <p:spPr>
          <a:xfrm>
            <a:off x="9674352" y="676656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Physically precluded (e.g. fMRI BOLD lag)</a:t>
            </a:r>
            <a:endParaRPr lang="en-US" sz="650" dirty="0"/>
          </a:p>
        </p:txBody>
      </p:sp>
      <p:sp>
        <p:nvSpPr>
          <p:cNvPr id="125" name="Text 123"/>
          <p:cNvSpPr/>
          <p:nvPr/>
        </p:nvSpPr>
        <p:spPr>
          <a:xfrm>
            <a:off x="91440" y="6656832"/>
            <a:ext cx="119786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4. Modality-by-task performance heatmap. Tiers reflect evidence in the 71 included studies only. NOT FEASIBLE: BOLD lags ~5 s — overt/attempted speech tracking is physically precluded for fMRI. NOT DEMONSTRATED: modality-task combination absent from included studies. Metric heterogeneity limits direct cross-cell comparison — see Table 5.</a:t>
            </a:r>
            <a:endParaRPr lang="en-US" sz="720" dirty="0"/>
          </a:p>
        </p:txBody>
      </p:sp>
      <p:sp>
        <p:nvSpPr>
          <p:cNvPr id="126" name="Shape 124"/>
          <p:cNvSpPr/>
          <p:nvPr/>
        </p:nvSpPr>
        <p:spPr>
          <a:xfrm>
            <a:off x="11887200" y="502920"/>
            <a:ext cx="246888" cy="5788152"/>
          </a:xfrm>
          <a:prstGeom prst="rect">
            <a:avLst/>
          </a:prstGeom>
          <a:solidFill>
            <a:srgbClr val="F0F4FB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 rot="5400000">
            <a:off x="11887200" y="2286000"/>
            <a:ext cx="228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click any cell to change tier label or color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4 — Modality × Task Performance Heatmap</dc:title>
  <dc:subject>PptxGenJS Presentation</dc:subject>
  <dc:creator>Adeika &amp; Osuagwu</dc:creator>
  <cp:lastModifiedBy>Adeika &amp; Osuagwu</cp:lastModifiedBy>
  <cp:revision>1</cp:revision>
  <dcterms:created xsi:type="dcterms:W3CDTF">2026-05-04T21:03:24Z</dcterms:created>
  <dcterms:modified xsi:type="dcterms:W3CDTF">2026-05-04T21:03:24Z</dcterms:modified>
</cp:coreProperties>
</file>