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94704"/>
  </p:normalViewPr>
  <p:slideViewPr>
    <p:cSldViewPr snapToGrid="0">
      <p:cViewPr varScale="1">
        <p:scale>
          <a:sx n="155" d="100"/>
          <a:sy n="15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A330-87FC-8348-8CF2-EE4FBB3F6FFB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B76D0-6E77-1A44-A7F6-9C61A546C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9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9F1E-3A16-9B5A-660D-D6026EFC5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84FFF-6AAB-DD17-6274-74701D01A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4CEE-6A8A-5696-446A-B2F865FF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FBDC-E1A6-5F4A-F676-B750E14E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0DA3-F56E-1972-3108-E3ACA230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6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85CC-DFCC-091D-93D1-31AC441E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E9D95-1903-923C-2ABC-C6C358DB2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8F77F-3EC3-78B1-8858-C15A8015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4C797-5F6D-A501-8972-1EC2933F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19695-A037-5B82-AAA1-81365A68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7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93E7-72D0-A034-8747-84F13D0A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1A46-E991-4192-9E96-FA6AEA77F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5B8CE-2830-CA4F-59EE-91365448C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A0023-E090-E4D0-6DBD-4E33E3A6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6E6AA-CD13-7F39-CF81-583CBFEB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09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9C49-C0DC-3667-E17E-E1695532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A4C6-EE6B-6447-6B41-C4C41F354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8182F-C88E-A741-4530-393FDE8E6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7E48C-EBB4-B74C-1C95-E8A47876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8F9B9-472C-8D9A-214A-0AA8A833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0551-1F53-A435-4B64-0079FA26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5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E7A1-9485-92EB-AB9B-038A1DA3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1B731-40F0-D632-D5E3-D02CA3600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1772A-2E36-8FD2-0E41-387D7187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25EA6-2FAB-06FA-1D4B-BD5AE4BA1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8D85B-B3BC-99C2-DD4D-62E6862FF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4C7A0-2921-ED1A-1864-B559904C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542BD-C5A6-940C-6396-6A4E2600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ABA5B-7C28-F80D-580E-DA98C969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DA05-6519-048C-D90D-D38D00D1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5531C-D89B-4AE5-E809-F4969D88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9905F-306E-F927-8D7F-E4751E8FE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51058-87C0-BFB1-F02F-665AFEF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8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6EE33-1B3F-F72E-5B19-2BD2178B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7B546-808F-E66D-C818-4B5D3355A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38382-457E-75BE-4C4B-B00E246C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0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B4E3-83C0-F59A-2708-5A09FABF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D2201-D1D3-5E05-2DE9-6023953C2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80EC0-5D4D-C100-9C4D-290D7C41D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B666-147C-BF6F-3102-5DA20B8B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F66F6-8F6E-DD17-4B5A-D5D3940C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83ABD-4E45-4BF1-13B5-DE72A530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9FAC-2806-026B-33CE-D5A89805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0EC26-FB7A-F112-1958-51835BCFC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F1BC7-8A96-FAB5-938E-A6CEF38FD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5F7E2-2538-C728-6828-DF6F79FB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4427-F887-0BEC-3BC9-1A64217F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7F37-7033-32D5-F1E8-AA5111CA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2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C20F-BE99-EC3D-8282-8210ABD7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63046-0349-9172-041F-63DBF3F30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7A0A-20B2-7925-DD31-4B612463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A9B5-9531-4A0D-A479-1E7BA60B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7755E-CF24-8109-6ECE-6C618D3D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4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8582B-AF97-6375-8962-C75B82A21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992A5-9C11-A9A6-1ECB-67BD0A223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958B0-2BA2-D238-BFEB-55211D3B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BE849-0B05-519C-DED9-C58E3064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46A0A-36BE-BB8A-BDA4-551ABC07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3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0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1A602-66AB-7A8B-763C-DD1F1097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78F73-E069-DB12-C49C-E3D3EFB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7A35-176B-1589-843B-D657889E1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FE91B-1495-0B49-8901-082BC70E8B9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AE8F7-C7AB-6C1F-DDF1-A531EDACE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08F01-DA6C-ECF9-03BF-3E96BF904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BAE3D-6709-964F-9F68-0B0350A7D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6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160" y="45720"/>
            <a:ext cx="1179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2    AI Architecture Evolution in Brain-to-Speech Decoding    2015 - 2026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Era bars show approximate periods of dominance  overlap is intentional. Landmark studies annotated at key transitions (full details: Table 3).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274320" y="64739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2.  AI architecture evolution in brain-to-speech decoding, 2015 - 2026. Era boundaries reflect approximate periods of dominance; architectures co-exist across eras. Landmark studies are annotated at key transition points (full details in Table 3). Section references indicate where each architecture class is discussed in this review. Only 14/71 included studies (20%) integrate a language model despite LLM integration driving the largest WER reductions.</a:t>
            </a:r>
            <a:endParaRPr lang="en-US" sz="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29DFF6E-6BEB-84F3-A271-E76F8D13BF7B}"/>
              </a:ext>
            </a:extLst>
          </p:cNvPr>
          <p:cNvGrpSpPr/>
          <p:nvPr/>
        </p:nvGrpSpPr>
        <p:grpSpPr>
          <a:xfrm>
            <a:off x="73152" y="850392"/>
            <a:ext cx="12060936" cy="5687564"/>
            <a:chOff x="73152" y="850392"/>
            <a:chExt cx="12060936" cy="5687564"/>
          </a:xfrm>
        </p:grpSpPr>
        <p:sp>
          <p:nvSpPr>
            <p:cNvPr id="5" name="Shape 3"/>
            <p:cNvSpPr/>
            <p:nvPr/>
          </p:nvSpPr>
          <p:spPr>
            <a:xfrm>
              <a:off x="7132320" y="5166360"/>
              <a:ext cx="4572000" cy="658368"/>
            </a:xfrm>
            <a:prstGeom prst="roundRect">
              <a:avLst>
                <a:gd name="adj" fmla="val 6944"/>
              </a:avLst>
            </a:prstGeom>
            <a:solidFill>
              <a:srgbClr val="E8F8F5"/>
            </a:solidFill>
            <a:ln w="19050">
              <a:solidFill>
                <a:srgbClr val="00796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205472" y="5294376"/>
              <a:ext cx="44256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6  |  LLM-integrated &amp; Foundation Models  (2022 → present)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1750040" y="5349240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§4.7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217920" y="4370832"/>
              <a:ext cx="5486400" cy="658368"/>
            </a:xfrm>
            <a:prstGeom prst="roundRect">
              <a:avLst>
                <a:gd name="adj" fmla="val 6944"/>
              </a:avLst>
            </a:prstGeom>
            <a:solidFill>
              <a:srgbClr val="FCE4D6"/>
            </a:solidFill>
            <a:ln w="19050">
              <a:solidFill>
                <a:srgbClr val="843C0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291072" y="4498848"/>
              <a:ext cx="53400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5  |  SSL / Contrastive Pre-training  (2021 → present)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1750040" y="4553712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§4.6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0" y="3575304"/>
              <a:ext cx="5486400" cy="658368"/>
            </a:xfrm>
            <a:prstGeom prst="roundRect">
              <a:avLst>
                <a:gd name="adj" fmla="val 6944"/>
              </a:avLst>
            </a:prstGeom>
            <a:solidFill>
              <a:srgbClr val="EAD1F5"/>
            </a:solidFill>
            <a:ln w="19050">
              <a:solidFill>
                <a:srgbClr val="4B0082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291072" y="3703320"/>
              <a:ext cx="53400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4  |  Transformer / Self-attention  (2021 → present)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1750040" y="3758184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§4.5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4389120" y="2779776"/>
              <a:ext cx="3657600" cy="658368"/>
            </a:xfrm>
            <a:prstGeom prst="roundRect">
              <a:avLst>
                <a:gd name="adj" fmla="val 6944"/>
              </a:avLst>
            </a:prstGeom>
            <a:solidFill>
              <a:srgbClr val="E2EFDA"/>
            </a:solidFill>
            <a:ln w="19050">
              <a:solidFill>
                <a:srgbClr val="375623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462272" y="2907792"/>
              <a:ext cx="35112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3  |  Encoder-Decoder / Seq2Seq  (2019 - 2023)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1750040" y="2962656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§4.4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2560320" y="1984248"/>
              <a:ext cx="4572000" cy="658368"/>
            </a:xfrm>
            <a:prstGeom prst="roundRect">
              <a:avLst>
                <a:gd name="adj" fmla="val 6944"/>
              </a:avLst>
            </a:prstGeom>
            <a:solidFill>
              <a:srgbClr val="DEEAF1"/>
            </a:solidFill>
            <a:ln w="190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2633472" y="2112264"/>
              <a:ext cx="44256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2  |  CNN / RNN / LSTM  (2017 - 2022)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1750040" y="2167128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§4.2 - 4.3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1188720"/>
              <a:ext cx="2743200" cy="658368"/>
            </a:xfrm>
            <a:prstGeom prst="roundRect">
              <a:avLst>
                <a:gd name="adj" fmla="val 6944"/>
              </a:avLst>
            </a:prstGeom>
            <a:solidFill>
              <a:srgbClr val="FFF2CC"/>
            </a:solidFill>
            <a:ln w="190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804672" y="1316736"/>
              <a:ext cx="259689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BA7517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ERA 1  |  Traditional ML: HMM / SVM / LDA  (2015 - 2018)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1750040" y="1371600"/>
              <a:ext cx="384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BA7517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§4.1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5961888"/>
              <a:ext cx="11430000" cy="0"/>
            </a:xfrm>
            <a:prstGeom prst="line">
              <a:avLst/>
            </a:prstGeom>
            <a:noFill/>
            <a:ln w="1270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7315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303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2015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6459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14447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2016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5603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3591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2017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4747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2735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2018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3891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1879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2019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3035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1023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2020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2179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60167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2021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1323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9311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80467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78455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2023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89611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87599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2024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98755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96743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2025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10789920" y="5961888"/>
              <a:ext cx="0" cy="82296"/>
            </a:xfrm>
            <a:prstGeom prst="line">
              <a:avLst/>
            </a:prstGeom>
            <a:noFill/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10588752" y="6035040"/>
              <a:ext cx="40233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5555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2026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4572000" y="626364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Publication year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731520" y="1444752"/>
              <a:ext cx="0" cy="384048"/>
            </a:xfrm>
            <a:prstGeom prst="line">
              <a:avLst/>
            </a:prstGeom>
            <a:noFill/>
            <a:ln w="8890">
              <a:solidFill>
                <a:srgbClr val="BA7517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667512" y="1764792"/>
              <a:ext cx="128016" cy="128016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164592" y="850392"/>
              <a:ext cx="1017409" cy="374904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BA7517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BA7517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Herff 2015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BA7517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Brain-to-Text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BA7517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WER 25%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2560320" y="2660904"/>
              <a:ext cx="0" cy="384048"/>
            </a:xfrm>
            <a:prstGeom prst="line">
              <a:avLst/>
            </a:prstGeom>
            <a:noFill/>
            <a:ln w="8890">
              <a:solidFill>
                <a:srgbClr val="185FA5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2496312" y="2596896"/>
              <a:ext cx="128016" cy="128016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1993392" y="3051494"/>
              <a:ext cx="1133856" cy="50292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185FA5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Schirrmeister 2017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DeepConvNet CNN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4389120" y="2240280"/>
              <a:ext cx="0" cy="384048"/>
            </a:xfrm>
            <a:prstGeom prst="line">
              <a:avLst/>
            </a:prstGeom>
            <a:noFill/>
            <a:ln w="8890">
              <a:solidFill>
                <a:srgbClr val="185FA5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4325112" y="2560320"/>
              <a:ext cx="128016" cy="128016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3822192" y="1719072"/>
              <a:ext cx="1017437" cy="301752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185FA5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Angrick 2019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DenseNet 3D ECoG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4389120" y="3456432"/>
              <a:ext cx="0" cy="384048"/>
            </a:xfrm>
            <a:prstGeom prst="line">
              <a:avLst/>
            </a:prstGeom>
            <a:noFill/>
            <a:ln w="8890">
              <a:solidFill>
                <a:srgbClr val="375623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4325112" y="3392424"/>
              <a:ext cx="128016" cy="128016"/>
            </a:xfrm>
            <a:prstGeom prst="ellipse">
              <a:avLst/>
            </a:prstGeom>
            <a:solidFill>
              <a:srgbClr val="37562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3822192" y="3840480"/>
              <a:ext cx="1133856" cy="50292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375623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Anumanchipalli 2019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Articulatory ED Nature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5303520" y="3035808"/>
              <a:ext cx="0" cy="384048"/>
            </a:xfrm>
            <a:prstGeom prst="line">
              <a:avLst/>
            </a:prstGeom>
            <a:noFill/>
            <a:ln w="8890">
              <a:solidFill>
                <a:srgbClr val="375623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5239512" y="3355848"/>
              <a:ext cx="128016" cy="128016"/>
            </a:xfrm>
            <a:prstGeom prst="ellipse">
              <a:avLst/>
            </a:prstGeom>
            <a:solidFill>
              <a:srgbClr val="37562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4858437" y="2451557"/>
              <a:ext cx="978408" cy="32004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375623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Makin 2020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ED RNN WER 3%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(constrained)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6217920" y="4251960"/>
              <a:ext cx="0" cy="384048"/>
            </a:xfrm>
            <a:prstGeom prst="line">
              <a:avLst/>
            </a:prstGeom>
            <a:noFill/>
            <a:ln w="8890">
              <a:solidFill>
                <a:srgbClr val="4B0082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63"/>
            <p:cNvSpPr/>
            <p:nvPr/>
          </p:nvSpPr>
          <p:spPr>
            <a:xfrm>
              <a:off x="6153912" y="4187952"/>
              <a:ext cx="128016" cy="128016"/>
            </a:xfrm>
            <a:prstGeom prst="ellipse">
              <a:avLst/>
            </a:prstGeom>
            <a:solidFill>
              <a:srgbClr val="4B0082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6217920" y="5047488"/>
              <a:ext cx="0" cy="384048"/>
            </a:xfrm>
            <a:prstGeom prst="line">
              <a:avLst/>
            </a:prstGeom>
            <a:noFill/>
            <a:ln w="8890">
              <a:solidFill>
                <a:srgbClr val="843C0C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6153912" y="4983480"/>
              <a:ext cx="128016" cy="128016"/>
            </a:xfrm>
            <a:prstGeom prst="ellipse">
              <a:avLst/>
            </a:prstGeom>
            <a:solidFill>
              <a:srgbClr val="843C0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5656567" y="5422393"/>
              <a:ext cx="1133856" cy="50292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843C0C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Kostas 2021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BENDR SSL EEG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7132320" y="3831336"/>
              <a:ext cx="0" cy="384048"/>
            </a:xfrm>
            <a:prstGeom prst="line">
              <a:avLst/>
            </a:prstGeom>
            <a:noFill/>
            <a:ln w="8890">
              <a:solidFill>
                <a:srgbClr val="4B0082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7068312" y="4151376"/>
              <a:ext cx="128016" cy="128016"/>
            </a:xfrm>
            <a:prstGeom prst="ellipse">
              <a:avLst/>
            </a:prstGeom>
            <a:solidFill>
              <a:srgbClr val="4B0082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6565392" y="3209544"/>
              <a:ext cx="1114072" cy="402336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4B0082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Wang &amp; Ji 2022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Open-vocab TF+BART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8046720" y="4251960"/>
              <a:ext cx="0" cy="384048"/>
            </a:xfrm>
            <a:prstGeom prst="line">
              <a:avLst/>
            </a:prstGeom>
            <a:noFill/>
            <a:ln w="8890">
              <a:solidFill>
                <a:srgbClr val="4B0082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7982712" y="4187952"/>
              <a:ext cx="128016" cy="128016"/>
            </a:xfrm>
            <a:prstGeom prst="ellipse">
              <a:avLst/>
            </a:prstGeom>
            <a:solidFill>
              <a:srgbClr val="4B0082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8046720" y="4626864"/>
              <a:ext cx="0" cy="384048"/>
            </a:xfrm>
            <a:prstGeom prst="line">
              <a:avLst/>
            </a:prstGeom>
            <a:noFill/>
            <a:ln w="8890">
              <a:solidFill>
                <a:srgbClr val="843C0C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7982712" y="4946904"/>
              <a:ext cx="128016" cy="128016"/>
            </a:xfrm>
            <a:prstGeom prst="ellipse">
              <a:avLst/>
            </a:prstGeom>
            <a:solidFill>
              <a:srgbClr val="843C0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76"/>
            <p:cNvSpPr/>
            <p:nvPr/>
          </p:nvSpPr>
          <p:spPr>
            <a:xfrm>
              <a:off x="7479792" y="4005072"/>
              <a:ext cx="1076909" cy="402336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843C0C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Wang 2023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BrainBERT iEEG SSL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Shape 77"/>
            <p:cNvSpPr/>
            <p:nvPr/>
          </p:nvSpPr>
          <p:spPr>
            <a:xfrm>
              <a:off x="8046720" y="5843016"/>
              <a:ext cx="0" cy="384048"/>
            </a:xfrm>
            <a:prstGeom prst="line">
              <a:avLst/>
            </a:prstGeom>
            <a:noFill/>
            <a:ln w="8890">
              <a:solidFill>
                <a:srgbClr val="00796B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Shape 78"/>
            <p:cNvSpPr/>
            <p:nvPr/>
          </p:nvSpPr>
          <p:spPr>
            <a:xfrm>
              <a:off x="7982712" y="5779008"/>
              <a:ext cx="128016" cy="128016"/>
            </a:xfrm>
            <a:prstGeom prst="ellipse">
              <a:avLst/>
            </a:prstGeom>
            <a:solidFill>
              <a:srgbClr val="00796B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7479792" y="6204204"/>
              <a:ext cx="1133856" cy="333752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00796B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Tang 2023 fMRI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Brain-GPT 100% story ID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8961120" y="5422392"/>
              <a:ext cx="0" cy="384048"/>
            </a:xfrm>
            <a:prstGeom prst="line">
              <a:avLst/>
            </a:prstGeom>
            <a:noFill/>
            <a:ln w="8890">
              <a:solidFill>
                <a:srgbClr val="00796B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8897112" y="5742432"/>
              <a:ext cx="128016" cy="128016"/>
            </a:xfrm>
            <a:prstGeom prst="ellipse">
              <a:avLst/>
            </a:prstGeom>
            <a:solidFill>
              <a:srgbClr val="00796B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83"/>
            <p:cNvSpPr/>
            <p:nvPr/>
          </p:nvSpPr>
          <p:spPr>
            <a:xfrm>
              <a:off x="9875520" y="3831336"/>
              <a:ext cx="0" cy="384048"/>
            </a:xfrm>
            <a:prstGeom prst="line">
              <a:avLst/>
            </a:prstGeom>
            <a:noFill/>
            <a:ln w="8890">
              <a:solidFill>
                <a:srgbClr val="4B0082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Shape 84"/>
            <p:cNvSpPr/>
            <p:nvPr/>
          </p:nvSpPr>
          <p:spPr>
            <a:xfrm>
              <a:off x="9811512" y="4151376"/>
              <a:ext cx="128016" cy="128016"/>
            </a:xfrm>
            <a:prstGeom prst="ellipse">
              <a:avLst/>
            </a:prstGeom>
            <a:solidFill>
              <a:srgbClr val="4B0082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9308592" y="3236976"/>
              <a:ext cx="1114072" cy="374904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4B0082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d'Ascoli 2025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n=723, 3 languages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Shape 86"/>
            <p:cNvSpPr/>
            <p:nvPr/>
          </p:nvSpPr>
          <p:spPr>
            <a:xfrm>
              <a:off x="73152" y="1170432"/>
              <a:ext cx="173736" cy="4773168"/>
            </a:xfrm>
            <a:prstGeom prst="rect">
              <a:avLst/>
            </a:prstGeom>
            <a:solidFill>
              <a:srgbClr val="1F4E79">
                <a:alpha val="10000"/>
              </a:srgbClr>
            </a:solidFill>
            <a:ln w="6350">
              <a:solidFill>
                <a:srgbClr val="1F4E7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7479792" y="4901184"/>
              <a:ext cx="1133856" cy="429768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4B0082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Défossez 2023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SSL n=175 MEG/EEG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8458200" y="4828030"/>
              <a:ext cx="1012894" cy="374905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00796B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Card 2024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WER 2.5% NEJM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00796B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★ current best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5650992" y="4828032"/>
              <a:ext cx="1133856" cy="50292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6350">
              <a:solidFill>
                <a:srgbClr val="4B0082">
                  <a:alpha val="70000"/>
                </a:srgbClr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Vaswani 2017→BCI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650" dirty="0">
                  <a:solidFill>
                    <a:srgbClr val="4B008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Transformer NLP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160" y="45720"/>
            <a:ext cx="1188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3   WER Performance Trajectory Invasive Brain-to-Speech Decoding (2015 - 2026)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0FDDDFB-12C6-BB87-62C4-0848F4271E06}"/>
              </a:ext>
            </a:extLst>
          </p:cNvPr>
          <p:cNvGrpSpPr/>
          <p:nvPr/>
        </p:nvGrpSpPr>
        <p:grpSpPr>
          <a:xfrm>
            <a:off x="2" y="594360"/>
            <a:ext cx="12115798" cy="5212080"/>
            <a:chOff x="2" y="594360"/>
            <a:chExt cx="12115798" cy="5212080"/>
          </a:xfrm>
        </p:grpSpPr>
        <p:sp>
          <p:nvSpPr>
            <p:cNvPr id="4" name="Shape 2"/>
            <p:cNvSpPr/>
            <p:nvPr/>
          </p:nvSpPr>
          <p:spPr>
            <a:xfrm>
              <a:off x="365760" y="594360"/>
              <a:ext cx="9601200" cy="5212080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365760" y="594360"/>
              <a:ext cx="2697480" cy="4663440"/>
            </a:xfrm>
            <a:prstGeom prst="rect">
              <a:avLst/>
            </a:prstGeom>
            <a:solidFill>
              <a:srgbClr val="185FA5">
                <a:alpha val="8000"/>
              </a:srgbClr>
            </a:solidFill>
            <a:ln w="6350">
              <a:solidFill>
                <a:srgbClr val="185FA5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621792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ECoG foundation era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(2015 - 2019)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063240" y="594360"/>
              <a:ext cx="1344168" cy="4663440"/>
            </a:xfrm>
            <a:prstGeom prst="rect">
              <a:avLst/>
            </a:prstGeom>
            <a:solidFill>
              <a:srgbClr val="4CAF50">
                <a:alpha val="8000"/>
              </a:srgbClr>
            </a:solidFill>
            <a:ln w="6350">
              <a:solidFill>
                <a:srgbClr val="4CAF50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3063240" y="621792"/>
              <a:ext cx="1344168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4CAF5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First clinical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4CAF5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neuroprostheses (2020 - 2021)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4407408" y="594360"/>
              <a:ext cx="5559552" cy="4663440"/>
            </a:xfrm>
            <a:prstGeom prst="rect">
              <a:avLst/>
            </a:prstGeom>
            <a:solidFill>
              <a:srgbClr val="E65100">
                <a:alpha val="8000"/>
              </a:srgbClr>
            </a:solidFill>
            <a:ln w="6350">
              <a:solidFill>
                <a:srgbClr val="E65100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407408" y="621792"/>
              <a:ext cx="5559552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Intracortical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breakthroughs (2022 - 2024)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85800" y="5303520"/>
              <a:ext cx="9281160" cy="0"/>
            </a:xfrm>
            <a:prstGeom prst="line">
              <a:avLst/>
            </a:prstGeom>
            <a:noFill/>
            <a:ln w="1270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85800" y="460248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38328" y="448360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5%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85800" y="390144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" y="378256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10%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85800" y="320040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" y="308152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15%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85800" y="249936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38328" y="238048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85800" y="179832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38328" y="167944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25%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85800" y="1097280"/>
              <a:ext cx="9281160" cy="0"/>
            </a:xfrm>
            <a:prstGeom prst="line">
              <a:avLst/>
            </a:prstGeom>
            <a:noFill/>
            <a:ln w="635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338327" y="978408"/>
              <a:ext cx="34747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30%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1107671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924791" y="5330952"/>
              <a:ext cx="46274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2015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951413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1768533" y="5330952"/>
              <a:ext cx="42187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2016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795155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612274" y="5330952"/>
              <a:ext cx="45096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2017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638896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456015" y="5330952"/>
              <a:ext cx="450963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2018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482638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299758" y="5330952"/>
              <a:ext cx="50499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2019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326380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143500" y="5330952"/>
              <a:ext cx="4883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2020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170122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5987242" y="5330952"/>
              <a:ext cx="43226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2021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013864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830983" y="5330952"/>
              <a:ext cx="488367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7857605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7674725" y="5330952"/>
              <a:ext cx="43226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2023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8701347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8518467" y="5330952"/>
              <a:ext cx="4572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2024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9545089" y="5303520"/>
              <a:ext cx="0" cy="73152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9362208" y="5330952"/>
              <a:ext cx="457199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2025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1107671" y="1798320"/>
              <a:ext cx="7593676" cy="3154680"/>
            </a:xfrm>
            <a:prstGeom prst="line">
              <a:avLst/>
            </a:prstGeom>
            <a:noFill/>
            <a:ln w="19050">
              <a:solidFill>
                <a:srgbClr val="CCCCCC"/>
              </a:solidFill>
              <a:prstDash val="dash"/>
              <a:tailEnd type="none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 rot="-1200000">
              <a:off x="4060767" y="3621024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AAAAAA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Invasive open-vocab trajectory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1025375" y="1716024"/>
              <a:ext cx="164592" cy="164592"/>
            </a:xfrm>
            <a:prstGeom prst="ellipse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787631" y="1524000"/>
              <a:ext cx="777240" cy="64008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376150" y="1216152"/>
              <a:ext cx="924376" cy="411467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Herff et al.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(2015)  25%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5244084" y="480060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5326380" y="4425696"/>
              <a:ext cx="182880" cy="82296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5052060" y="4059936"/>
              <a:ext cx="1188720" cy="54864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Makin, Moses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&amp; Chang (2020)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3% constrained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6087826" y="1575816"/>
              <a:ext cx="164592" cy="164592"/>
            </a:xfrm>
            <a:prstGeom prst="ellipse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6170122" y="1658112"/>
              <a:ext cx="228600" cy="27432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5941522" y="1932432"/>
              <a:ext cx="1188720" cy="54864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Moses et al.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(2021)  26%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 rot="2700000">
              <a:off x="7775309" y="3959352"/>
              <a:ext cx="164592" cy="164592"/>
            </a:xfrm>
            <a:prstGeom prst="ellipse">
              <a:avLst/>
            </a:prstGeom>
            <a:solidFill>
              <a:srgbClr val="E65100"/>
            </a:solidFill>
            <a:ln w="12700">
              <a:solidFill>
                <a:srgbClr val="E6510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7400405" y="3813048"/>
              <a:ext cx="914400" cy="59436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6486005" y="3447288"/>
              <a:ext cx="1188720" cy="54864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Willett et al.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(2023)  9%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7775309" y="1716024"/>
              <a:ext cx="164592" cy="164592"/>
            </a:xfrm>
            <a:prstGeom prst="ellipse">
              <a:avLst/>
            </a:prstGeom>
            <a:solidFill>
              <a:srgbClr val="2196F3"/>
            </a:solidFill>
            <a:ln w="12700">
              <a:solidFill>
                <a:srgbClr val="2196F3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7857605" y="1798320"/>
              <a:ext cx="274320" cy="27432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7674725" y="2072640"/>
              <a:ext cx="1188720" cy="54864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Metzger et al.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(2023)  25%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 rot="2700000">
              <a:off x="8619051" y="4870704"/>
              <a:ext cx="164592" cy="164592"/>
            </a:xfrm>
            <a:prstGeom prst="ellipse">
              <a:avLst/>
            </a:prstGeom>
            <a:solidFill>
              <a:srgbClr val="E65100"/>
            </a:solidFill>
            <a:ln w="12700">
              <a:solidFill>
                <a:srgbClr val="E6510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8701347" y="4450080"/>
              <a:ext cx="182880" cy="868680"/>
            </a:xfrm>
            <a:prstGeom prst="line">
              <a:avLst/>
            </a:prstGeom>
            <a:noFill/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8427027" y="4084320"/>
              <a:ext cx="1188720" cy="54864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3810">
              <a:solidFill>
                <a:srgbClr val="EEEEEE"/>
              </a:solidFill>
            </a:ln>
            <a:effectLst>
              <a:outerShdw blurRad="25400" dist="12700" dir="2700000" algn="bl" rotWithShape="0">
                <a:srgbClr val="AAAAAA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Card et al.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(2024)  2.5%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★ Current best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8929947" y="4809744"/>
              <a:ext cx="1575267" cy="493771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8975667" y="4848132"/>
              <a:ext cx="1495459" cy="4206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★  Current best WER: 2.5%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Card et al. 2024 - NEJM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125k-word vocab | 8+ months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 rot="16200000">
              <a:off x="-578394" y="2469682"/>
              <a:ext cx="1647444" cy="4906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444444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Word Error Rate - WER %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444444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(lower is better  ↓)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4114800" y="553212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444444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Publication year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10149840" y="1225296"/>
              <a:ext cx="164592" cy="164592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10378440" y="118872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ECoG (overt / attempted speech)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Shape 70"/>
            <p:cNvSpPr/>
            <p:nvPr/>
          </p:nvSpPr>
          <p:spPr>
            <a:xfrm>
              <a:off x="10149840" y="1609344"/>
              <a:ext cx="164592" cy="164592"/>
            </a:xfrm>
            <a:prstGeom prst="ellipse">
              <a:avLst/>
            </a:prstGeom>
            <a:solidFill>
              <a:srgbClr val="E65100"/>
            </a:solidFill>
            <a:ln w="6350">
              <a:solidFill>
                <a:srgbClr val="E6510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71"/>
            <p:cNvSpPr/>
            <p:nvPr/>
          </p:nvSpPr>
          <p:spPr>
            <a:xfrm>
              <a:off x="10378440" y="1572768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Intracortical Utah array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10149840" y="1993392"/>
              <a:ext cx="164592" cy="164592"/>
            </a:xfrm>
            <a:prstGeom prst="ellipse">
              <a:avLst/>
            </a:prstGeom>
            <a:solidFill>
              <a:srgbClr val="2196F3"/>
            </a:solidFill>
            <a:ln w="6350">
              <a:solidFill>
                <a:srgbClr val="2196F3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10378440" y="1956816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HD-ECoG (high-density)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10149840" y="237744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75"/>
            <p:cNvSpPr/>
            <p:nvPr/>
          </p:nvSpPr>
          <p:spPr>
            <a:xfrm>
              <a:off x="10378440" y="2340864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Constrained corpus  (open-circle marker)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8" name="Text 76"/>
          <p:cNvSpPr/>
          <p:nvPr/>
        </p:nvSpPr>
        <p:spPr>
          <a:xfrm>
            <a:off x="381000" y="6198107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3. WER performance trajectory for invasive brain-to-speech decoding, 2015 - 2026. Open-circle (Makin 2020) = constrained corpus, not directly comparable to open-vocabulary results. Moses 2021 (anarthria) and Metzger 2023 involve different populations/tasks from Willett 2023 and Card 2024 — see Table 5 (benchmark comparability analysis). Studies reporting accuracy, PCC, CER, or BLEU excluded — see Fig. 4.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58719" y="502920"/>
            <a:ext cx="28523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4    Modality × Task Performance Heatmap    71 Included Studies, 2015 - 2026    Tiers derived from included studies only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09A4A0B-5859-17BE-84E8-75DF148D3974}"/>
              </a:ext>
            </a:extLst>
          </p:cNvPr>
          <p:cNvGrpSpPr/>
          <p:nvPr/>
        </p:nvGrpSpPr>
        <p:grpSpPr>
          <a:xfrm>
            <a:off x="581791" y="246525"/>
            <a:ext cx="8363419" cy="6480936"/>
            <a:chOff x="475787" y="201544"/>
            <a:chExt cx="8363419" cy="6480936"/>
          </a:xfrm>
        </p:grpSpPr>
        <p:sp>
          <p:nvSpPr>
            <p:cNvPr id="4" name="Shape 2"/>
            <p:cNvSpPr/>
            <p:nvPr/>
          </p:nvSpPr>
          <p:spPr>
            <a:xfrm>
              <a:off x="1822409" y="201544"/>
              <a:ext cx="1649340" cy="329184"/>
            </a:xfrm>
            <a:prstGeom prst="roundRect">
              <a:avLst>
                <a:gd name="adj" fmla="val 11111"/>
              </a:avLst>
            </a:prstGeom>
            <a:solidFill>
              <a:srgbClr val="DEEAF1"/>
            </a:solidFill>
            <a:ln w="1270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822409" y="201544"/>
              <a:ext cx="197510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Overt speech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3607053" y="201544"/>
              <a:ext cx="1645920" cy="329184"/>
            </a:xfrm>
            <a:prstGeom prst="roundRect">
              <a:avLst>
                <a:gd name="adj" fmla="val 11111"/>
              </a:avLst>
            </a:prstGeom>
            <a:solidFill>
              <a:srgbClr val="E2EFDA"/>
            </a:solidFill>
            <a:ln w="1270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607053" y="201544"/>
              <a:ext cx="16459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Imagined / Covert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399127" y="201544"/>
              <a:ext cx="1648448" cy="329184"/>
            </a:xfrm>
            <a:prstGeom prst="roundRect">
              <a:avLst>
                <a:gd name="adj" fmla="val 11111"/>
              </a:avLst>
            </a:prstGeom>
            <a:solidFill>
              <a:srgbClr val="FFF2CC"/>
            </a:solidFill>
            <a:ln w="1270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399127" y="201544"/>
              <a:ext cx="165543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7F60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Attempted / Silent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7183770" y="201544"/>
              <a:ext cx="1655436" cy="329184"/>
            </a:xfrm>
            <a:prstGeom prst="roundRect">
              <a:avLst>
                <a:gd name="adj" fmla="val 11111"/>
              </a:avLst>
            </a:prstGeom>
            <a:solidFill>
              <a:srgbClr val="FCE4D6"/>
            </a:solidFill>
            <a:ln w="1270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183770" y="201544"/>
              <a:ext cx="165543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Perceived / Listened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475787" y="58388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83218" y="59131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ECoG (n=22)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822409" y="5764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1B5E2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868129" y="613024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858985" y="88734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PCC 0.804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(Chen 2024, n=48)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607053" y="5764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652773" y="6130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643629" y="88734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Up to 88% 2-class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(Martin 2016)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399127" y="5764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5444847" y="6130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435703" y="88734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WER 25 - 26%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(Moses 2021)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7183770" y="5764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229490" y="6130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220346" y="88734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PCC 0.60 - 0.74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(Akbari 2019)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75787" y="136112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83218" y="136855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Intracortical (n=8)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1822409" y="13536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868129" y="1390264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858985" y="16645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Limited evidence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(Wilson 2020)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607053" y="13536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652773" y="13902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3643629" y="16645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Above-chance only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(Wandelt 2024)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399127" y="13536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1B5E2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444847" y="13902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5435703" y="16645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WER 2.5% / 62 WPM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(Card 2024; Willett 2023)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7183770" y="13536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DBDB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7229490" y="13902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DEMONSTRATED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220346" y="16645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 included studies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75787" y="213836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83218" y="214579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sEEG (n=4)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1822409" y="213092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1868129" y="2167504"/>
              <a:ext cx="1584813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858985" y="244182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PCC vs ECoG-comparable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(Kohler 2022)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607053" y="213092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3652773" y="216750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3643629" y="244182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Real-time synthesis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(Angrick 2021)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5399127" y="213092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5444847" y="216750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5435703" y="244182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Very limited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(Angrick 2021)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7183770" y="213092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DBDB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7229490" y="216750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DEMONSTRATED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7220346" y="244182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 included studies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475787" y="291560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483218" y="292303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Scalp EEG (n=20)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1822409" y="290816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1868129" y="2944744"/>
              <a:ext cx="1584813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1858985" y="321906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Brumberg 2018;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Craik 2024 (preprint)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3607053" y="290816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3652773" y="294474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3643629" y="321906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70 - 92.5% closed-set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(Abdulghani 2023)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5399127" y="290816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5444847" y="294474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5435703" y="321906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Only Singh &amp;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Gumaste 2020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63"/>
            <p:cNvSpPr/>
            <p:nvPr/>
          </p:nvSpPr>
          <p:spPr>
            <a:xfrm>
              <a:off x="7183770" y="290816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7229490" y="294474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7220346" y="321906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WER 35 - 45%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(Wang &amp; Ji 2022)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475787" y="369284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483218" y="370027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MEG (n=5)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1822409" y="368540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1868129" y="3721984"/>
              <a:ext cx="1584813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1858985" y="399630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Mel-PCC ~0.95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(Kwon 2024, n=4)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3607053" y="368540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3652773" y="372198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3643629" y="399630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Limited: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Dash 2020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5399127" y="368540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DBDB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75"/>
            <p:cNvSpPr/>
            <p:nvPr/>
          </p:nvSpPr>
          <p:spPr>
            <a:xfrm>
              <a:off x="5444847" y="372198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DEMONSTRATED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76"/>
            <p:cNvSpPr/>
            <p:nvPr/>
          </p:nvSpPr>
          <p:spPr>
            <a:xfrm>
              <a:off x="5435703" y="399630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 included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studies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Shape 77"/>
            <p:cNvSpPr/>
            <p:nvPr/>
          </p:nvSpPr>
          <p:spPr>
            <a:xfrm>
              <a:off x="7183770" y="368540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1B5E2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 78"/>
            <p:cNvSpPr/>
            <p:nvPr/>
          </p:nvSpPr>
          <p:spPr>
            <a:xfrm>
              <a:off x="7229490" y="372198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7220346" y="399630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Top-1 41%; n=723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(Défossez 2023)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475787" y="447008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81"/>
            <p:cNvSpPr/>
            <p:nvPr/>
          </p:nvSpPr>
          <p:spPr>
            <a:xfrm>
              <a:off x="483218" y="447751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fMRI (n=6)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Shape 82"/>
            <p:cNvSpPr/>
            <p:nvPr/>
          </p:nvSpPr>
          <p:spPr>
            <a:xfrm>
              <a:off x="1822409" y="44626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42424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1868129" y="4499224"/>
              <a:ext cx="1584813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BDBDBD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FEASIBLE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1858985" y="477354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99999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BOLD ~5 s lag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99999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feasible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Shape 85"/>
            <p:cNvSpPr/>
            <p:nvPr/>
          </p:nvSpPr>
          <p:spPr>
            <a:xfrm>
              <a:off x="3607053" y="44626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3652773" y="44992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3643629" y="477354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Semantic: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Tang 2023; Yin 2024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Shape 88"/>
            <p:cNvSpPr/>
            <p:nvPr/>
          </p:nvSpPr>
          <p:spPr>
            <a:xfrm>
              <a:off x="5399127" y="44626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42424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89"/>
            <p:cNvSpPr/>
            <p:nvPr/>
          </p:nvSpPr>
          <p:spPr>
            <a:xfrm>
              <a:off x="5444847" y="44992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BDBDBD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FEASIBLE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 90"/>
            <p:cNvSpPr/>
            <p:nvPr/>
          </p:nvSpPr>
          <p:spPr>
            <a:xfrm>
              <a:off x="5435703" y="477354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99999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BOLD ~5 s lag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99999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feasible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91"/>
            <p:cNvSpPr/>
            <p:nvPr/>
          </p:nvSpPr>
          <p:spPr>
            <a:xfrm>
              <a:off x="7183770" y="446264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1B5E2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 92"/>
            <p:cNvSpPr/>
            <p:nvPr/>
          </p:nvSpPr>
          <p:spPr>
            <a:xfrm>
              <a:off x="7229490" y="449922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93"/>
            <p:cNvSpPr/>
            <p:nvPr/>
          </p:nvSpPr>
          <p:spPr>
            <a:xfrm>
              <a:off x="7220346" y="4748830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100% story ID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(Tang 2023);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BLEU 27.8% (Yin 2024)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Shape 94"/>
            <p:cNvSpPr/>
            <p:nvPr/>
          </p:nvSpPr>
          <p:spPr>
            <a:xfrm>
              <a:off x="475787" y="5247322"/>
              <a:ext cx="1208420" cy="722376"/>
            </a:xfrm>
            <a:prstGeom prst="rect">
              <a:avLst/>
            </a:prstGeom>
            <a:solidFill>
              <a:srgbClr val="EBF3FB"/>
            </a:solidFill>
            <a:ln w="6350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ext 95"/>
            <p:cNvSpPr/>
            <p:nvPr/>
          </p:nvSpPr>
          <p:spPr>
            <a:xfrm>
              <a:off x="483218" y="5254753"/>
              <a:ext cx="1208421" cy="722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Hybrid / sEMG (n=6)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Shape 96"/>
            <p:cNvSpPr/>
            <p:nvPr/>
          </p:nvSpPr>
          <p:spPr>
            <a:xfrm>
              <a:off x="1822409" y="52398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97"/>
            <p:cNvSpPr/>
            <p:nvPr/>
          </p:nvSpPr>
          <p:spPr>
            <a:xfrm>
              <a:off x="1868129" y="5276464"/>
              <a:ext cx="1584813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 98"/>
            <p:cNvSpPr/>
            <p:nvPr/>
          </p:nvSpPr>
          <p:spPr>
            <a:xfrm>
              <a:off x="1858985" y="5550784"/>
              <a:ext cx="1600200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46.31% EEG+fNIRS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(Cooney 2022)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Shape 99"/>
            <p:cNvSpPr/>
            <p:nvPr/>
          </p:nvSpPr>
          <p:spPr>
            <a:xfrm>
              <a:off x="3592184" y="52398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F9A82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 100"/>
            <p:cNvSpPr/>
            <p:nvPr/>
          </p:nvSpPr>
          <p:spPr>
            <a:xfrm>
              <a:off x="3652773" y="52764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 101"/>
            <p:cNvSpPr/>
            <p:nvPr/>
          </p:nvSpPr>
          <p:spPr>
            <a:xfrm>
              <a:off x="3643629" y="55507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34.29% imagined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(Cooney 2022)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Shape 102"/>
            <p:cNvSpPr/>
            <p:nvPr/>
          </p:nvSpPr>
          <p:spPr>
            <a:xfrm>
              <a:off x="5399127" y="52398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1B5E2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ext 103"/>
            <p:cNvSpPr/>
            <p:nvPr/>
          </p:nvSpPr>
          <p:spPr>
            <a:xfrm>
              <a:off x="5444847" y="52764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 104"/>
            <p:cNvSpPr/>
            <p:nvPr/>
          </p:nvSpPr>
          <p:spPr>
            <a:xfrm>
              <a:off x="5435703" y="55507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CER 3.11%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(Song 2023, n=15)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Shape 105"/>
            <p:cNvSpPr/>
            <p:nvPr/>
          </p:nvSpPr>
          <p:spPr>
            <a:xfrm>
              <a:off x="7183770" y="5239888"/>
              <a:ext cx="1645920" cy="722376"/>
            </a:xfrm>
            <a:prstGeom prst="roundRect">
              <a:avLst>
                <a:gd name="adj" fmla="val 7595"/>
              </a:avLst>
            </a:prstGeom>
            <a:solidFill>
              <a:srgbClr val="BF360C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 106"/>
            <p:cNvSpPr/>
            <p:nvPr/>
          </p:nvSpPr>
          <p:spPr>
            <a:xfrm>
              <a:off x="7229490" y="5276464"/>
              <a:ext cx="15938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 107"/>
            <p:cNvSpPr/>
            <p:nvPr/>
          </p:nvSpPr>
          <p:spPr>
            <a:xfrm>
              <a:off x="7220346" y="5550784"/>
              <a:ext cx="1609344" cy="3749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Limited: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Hons 2026 only</a:t>
              </a: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Shape 108"/>
            <p:cNvSpPr/>
            <p:nvPr/>
          </p:nvSpPr>
          <p:spPr>
            <a:xfrm>
              <a:off x="579938" y="6129527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1B5E20"/>
            </a:solidFill>
            <a:ln w="6350">
              <a:solidFill>
                <a:srgbClr val="1B5E2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 109"/>
            <p:cNvSpPr/>
            <p:nvPr/>
          </p:nvSpPr>
          <p:spPr>
            <a:xfrm>
              <a:off x="579938" y="6129527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 110"/>
            <p:cNvSpPr/>
            <p:nvPr/>
          </p:nvSpPr>
          <p:spPr>
            <a:xfrm>
              <a:off x="567226" y="6481312"/>
              <a:ext cx="868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Multiple studies; competitive metrics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Shape 111"/>
            <p:cNvSpPr/>
            <p:nvPr/>
          </p:nvSpPr>
          <p:spPr>
            <a:xfrm>
              <a:off x="2217383" y="6144392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F9A825"/>
            </a:solidFill>
            <a:ln w="63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 112"/>
            <p:cNvSpPr/>
            <p:nvPr/>
          </p:nvSpPr>
          <p:spPr>
            <a:xfrm>
              <a:off x="2217383" y="6144392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MODERATE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 113"/>
            <p:cNvSpPr/>
            <p:nvPr/>
          </p:nvSpPr>
          <p:spPr>
            <a:xfrm>
              <a:off x="2211029" y="6455288"/>
              <a:ext cx="868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Some studies; above-chance results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Shape 114"/>
            <p:cNvSpPr/>
            <p:nvPr/>
          </p:nvSpPr>
          <p:spPr>
            <a:xfrm>
              <a:off x="3906866" y="6144392"/>
              <a:ext cx="822960" cy="274320"/>
            </a:xfrm>
            <a:prstGeom prst="roundRect">
              <a:avLst>
                <a:gd name="adj" fmla="val 13333"/>
              </a:avLst>
            </a:prstGeom>
            <a:solidFill>
              <a:srgbClr val="BF360C"/>
            </a:solidFill>
            <a:ln w="6350">
              <a:solidFill>
                <a:srgbClr val="BF360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 115"/>
            <p:cNvSpPr/>
            <p:nvPr/>
          </p:nvSpPr>
          <p:spPr>
            <a:xfrm>
              <a:off x="3906866" y="6144392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WEAK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 116"/>
            <p:cNvSpPr/>
            <p:nvPr/>
          </p:nvSpPr>
          <p:spPr>
            <a:xfrm>
              <a:off x="4013961" y="6455288"/>
              <a:ext cx="868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Few studies; exploratory only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Shape 117"/>
            <p:cNvSpPr/>
            <p:nvPr/>
          </p:nvSpPr>
          <p:spPr>
            <a:xfrm>
              <a:off x="5461686" y="6144392"/>
              <a:ext cx="1240124" cy="274320"/>
            </a:xfrm>
            <a:prstGeom prst="roundRect">
              <a:avLst>
                <a:gd name="adj" fmla="val 13333"/>
              </a:avLst>
            </a:prstGeom>
            <a:solidFill>
              <a:srgbClr val="BDBDBD"/>
            </a:solidFill>
            <a:ln w="6350">
              <a:solidFill>
                <a:srgbClr val="BDBDB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 118"/>
            <p:cNvSpPr/>
            <p:nvPr/>
          </p:nvSpPr>
          <p:spPr>
            <a:xfrm>
              <a:off x="5469924" y="6144392"/>
              <a:ext cx="1231885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1616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DEMONSTRATED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 119"/>
            <p:cNvSpPr/>
            <p:nvPr/>
          </p:nvSpPr>
          <p:spPr>
            <a:xfrm>
              <a:off x="5672415" y="6442093"/>
              <a:ext cx="868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 included studies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Shape 120"/>
            <p:cNvSpPr/>
            <p:nvPr/>
          </p:nvSpPr>
          <p:spPr>
            <a:xfrm>
              <a:off x="7323438" y="6144392"/>
              <a:ext cx="1127327" cy="274320"/>
            </a:xfrm>
            <a:prstGeom prst="roundRect">
              <a:avLst>
                <a:gd name="adj" fmla="val 13333"/>
              </a:avLst>
            </a:prstGeom>
            <a:solidFill>
              <a:srgbClr val="424242"/>
            </a:solidFill>
            <a:ln w="6350">
              <a:solidFill>
                <a:srgbClr val="424242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Text 121"/>
            <p:cNvSpPr/>
            <p:nvPr/>
          </p:nvSpPr>
          <p:spPr>
            <a:xfrm>
              <a:off x="7323438" y="6144392"/>
              <a:ext cx="1127327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BDBDBD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NOT FEASIBLE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Text 122"/>
            <p:cNvSpPr/>
            <p:nvPr/>
          </p:nvSpPr>
          <p:spPr>
            <a:xfrm>
              <a:off x="7341002" y="6473494"/>
              <a:ext cx="112659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50" dirty="0">
                  <a:solidFill>
                    <a:srgbClr val="59595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Physically precluded (e.g. fMRI BOLD lag)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5" name="Text 123"/>
          <p:cNvSpPr/>
          <p:nvPr/>
        </p:nvSpPr>
        <p:spPr>
          <a:xfrm>
            <a:off x="9023492" y="3602736"/>
            <a:ext cx="31227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4. Modality-by-task performance heatmap. Tiers reflect evidence in the 71 included studies only. NOT FEASIBLE: BOLD lags ~5 s — overt/attempted speech tracking is physically precluded for fMRI. NOT DEMONSTRATED: modality-task combination absent from included studies. Metric heterogeneity limits direct cross-cell comparison — see Table 5.</a:t>
            </a:r>
            <a:endParaRPr lang="en-US" sz="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11887200" y="502920"/>
            <a:ext cx="246888" cy="5788152"/>
          </a:xfrm>
          <a:prstGeom prst="rect">
            <a:avLst/>
          </a:prstGeom>
          <a:solidFill>
            <a:srgbClr val="F0F4FB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160" y="36576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6    Generalization Evidence Map    21 Studies Demonstrating Generalization from 71 Included (2015 - 2026)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E01D4EF-DD26-48A6-BC3B-EA9E12ADDB1E}"/>
              </a:ext>
            </a:extLst>
          </p:cNvPr>
          <p:cNvGrpSpPr/>
          <p:nvPr/>
        </p:nvGrpSpPr>
        <p:grpSpPr>
          <a:xfrm>
            <a:off x="0" y="461772"/>
            <a:ext cx="10716768" cy="5934456"/>
            <a:chOff x="-18288" y="438912"/>
            <a:chExt cx="10716768" cy="5934456"/>
          </a:xfrm>
        </p:grpSpPr>
        <p:sp>
          <p:nvSpPr>
            <p:cNvPr id="4" name="Shape 2"/>
            <p:cNvSpPr/>
            <p:nvPr/>
          </p:nvSpPr>
          <p:spPr>
            <a:xfrm>
              <a:off x="3566160" y="438912"/>
              <a:ext cx="1143000" cy="365760"/>
            </a:xfrm>
            <a:prstGeom prst="roundRect">
              <a:avLst>
                <a:gd name="adj" fmla="val 10000"/>
              </a:avLst>
            </a:prstGeom>
            <a:solidFill>
              <a:srgbClr val="DEEAF1"/>
            </a:solidFill>
            <a:ln w="12700">
              <a:solidFill>
                <a:srgbClr val="185FA5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3566160" y="438912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Cross-participant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75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(CP)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4800600" y="438912"/>
              <a:ext cx="1143000" cy="365760"/>
            </a:xfrm>
            <a:prstGeom prst="roundRect">
              <a:avLst>
                <a:gd name="adj" fmla="val 10000"/>
              </a:avLst>
            </a:prstGeom>
            <a:solidFill>
              <a:srgbClr val="E2EFDA"/>
            </a:solidFill>
            <a:ln w="12700">
              <a:solidFill>
                <a:srgbClr val="375623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800600" y="438912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Cross-session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75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(CS)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035040" y="438912"/>
              <a:ext cx="1143000" cy="365760"/>
            </a:xfrm>
            <a:prstGeom prst="roundRect">
              <a:avLst>
                <a:gd name="adj" fmla="val 10000"/>
              </a:avLst>
            </a:prstGeom>
            <a:solidFill>
              <a:srgbClr val="FFF2CC"/>
            </a:solidFill>
            <a:ln w="12700">
              <a:solidFill>
                <a:srgbClr val="7F6000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035040" y="438912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7F60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Cross-language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750" b="1" dirty="0">
                  <a:solidFill>
                    <a:srgbClr val="7F60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(CL)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7269480" y="438912"/>
              <a:ext cx="1143000" cy="365760"/>
            </a:xfrm>
            <a:prstGeom prst="roundRect">
              <a:avLst>
                <a:gd name="adj" fmla="val 10000"/>
              </a:avLst>
            </a:prstGeom>
            <a:solidFill>
              <a:srgbClr val="FCE4D6"/>
            </a:solidFill>
            <a:ln w="12700">
              <a:solidFill>
                <a:srgbClr val="843C0C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69480" y="438912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Cross-modal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75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(CM)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8531352" y="438912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444444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No. of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750" b="1" dirty="0">
                  <a:solidFill>
                    <a:srgbClr val="444444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types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182880" y="822960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01168" y="850392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BA7517"/>
            </a:solidFill>
            <a:ln w="127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01168" y="85039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438912" y="850392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d'Ascoli et al. (2025)  n=723 | EEG/MEG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059936" y="877824"/>
              <a:ext cx="155448" cy="155448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5321808" y="90525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528816" y="877824"/>
              <a:ext cx="155448" cy="155448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7790688" y="90525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8531352" y="859536"/>
              <a:ext cx="365760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×2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182880" y="1088136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201168" y="1115568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201168" y="1115568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438912" y="1115568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Défossez et al. (2023)  n=175 | MEG/EEG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059936" y="1143000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5321808" y="117043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556248" y="117043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7790688" y="117043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182880" y="1353312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201168" y="138074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201168" y="1380744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38912" y="1380744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Chen et al. (2024)  n=48 | ECoG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4059936" y="1408176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5321808" y="143560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556248" y="143560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7790688" y="143560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182880" y="1618488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201168" y="1645920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201168" y="164592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38912" y="1645920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Singh et al. (2025)  n=25 | sEEG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4059936" y="1673352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5321808" y="170078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556248" y="170078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7790688" y="170078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182880" y="1883664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201168" y="1911096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201168" y="1911096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38912" y="1911096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Wang et al. (2023) BrainBERT | iEEG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059936" y="1938528"/>
              <a:ext cx="155448" cy="155448"/>
            </a:xfrm>
            <a:prstGeom prst="ellipse">
              <a:avLst/>
            </a:prstGeom>
            <a:solidFill>
              <a:srgbClr val="534AB7"/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5321808" y="196596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6556248" y="196596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7790688" y="196596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182880" y="2148840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201168" y="2176272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201168" y="217627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438912" y="2176272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Yuan &amp; Makin (2024) | ECoG SSL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4059936" y="2203704"/>
              <a:ext cx="155448" cy="155448"/>
            </a:xfrm>
            <a:prstGeom prst="ellipse">
              <a:avLst/>
            </a:prstGeom>
            <a:solidFill>
              <a:srgbClr val="534AB7"/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5321808" y="223113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6556248" y="223113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7790688" y="223113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182880" y="2414016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201168" y="2441448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201168" y="2441448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438912" y="2441448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Saha et al. (2019)  n=10 | 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4059936" y="2468880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5321808" y="249631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6556248" y="249631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7"/>
            <p:cNvSpPr/>
            <p:nvPr/>
          </p:nvSpPr>
          <p:spPr>
            <a:xfrm>
              <a:off x="7790688" y="249631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182880" y="2679192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201168" y="270662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201168" y="2706624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71"/>
            <p:cNvSpPr/>
            <p:nvPr/>
          </p:nvSpPr>
          <p:spPr>
            <a:xfrm>
              <a:off x="438912" y="2706624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Agarwal &amp; Kumar (2022)  n=13 | 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4059936" y="2734056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Shape 73"/>
            <p:cNvSpPr/>
            <p:nvPr/>
          </p:nvSpPr>
          <p:spPr>
            <a:xfrm>
              <a:off x="5321808" y="276148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6556248" y="276148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7790688" y="276148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Shape 76"/>
            <p:cNvSpPr/>
            <p:nvPr/>
          </p:nvSpPr>
          <p:spPr>
            <a:xfrm>
              <a:off x="182880" y="2944368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Shape 77"/>
            <p:cNvSpPr/>
            <p:nvPr/>
          </p:nvSpPr>
          <p:spPr>
            <a:xfrm>
              <a:off x="201168" y="2971800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 78"/>
            <p:cNvSpPr/>
            <p:nvPr/>
          </p:nvSpPr>
          <p:spPr>
            <a:xfrm>
              <a:off x="201168" y="297180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438912" y="2971800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Mahapatra &amp; Bhuyan (2023) | 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4059936" y="2999232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5321808" y="302666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Shape 82"/>
            <p:cNvSpPr/>
            <p:nvPr/>
          </p:nvSpPr>
          <p:spPr>
            <a:xfrm>
              <a:off x="6556248" y="302666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83"/>
            <p:cNvSpPr/>
            <p:nvPr/>
          </p:nvSpPr>
          <p:spPr>
            <a:xfrm>
              <a:off x="7790688" y="302666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Shape 84"/>
            <p:cNvSpPr/>
            <p:nvPr/>
          </p:nvSpPr>
          <p:spPr>
            <a:xfrm>
              <a:off x="182880" y="3209544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Shape 85"/>
            <p:cNvSpPr/>
            <p:nvPr/>
          </p:nvSpPr>
          <p:spPr>
            <a:xfrm>
              <a:off x="201168" y="3236976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BA7517"/>
            </a:solidFill>
            <a:ln w="127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201168" y="3236976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438912" y="3236976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Caucheteux et al. (2022) | MEG/fMRI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Shape 88"/>
            <p:cNvSpPr/>
            <p:nvPr/>
          </p:nvSpPr>
          <p:spPr>
            <a:xfrm>
              <a:off x="4059936" y="3264408"/>
              <a:ext cx="155448" cy="155448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Shape 89"/>
            <p:cNvSpPr/>
            <p:nvPr/>
          </p:nvSpPr>
          <p:spPr>
            <a:xfrm>
              <a:off x="5321808" y="329184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Shape 90"/>
            <p:cNvSpPr/>
            <p:nvPr/>
          </p:nvSpPr>
          <p:spPr>
            <a:xfrm>
              <a:off x="6556248" y="329184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91"/>
            <p:cNvSpPr/>
            <p:nvPr/>
          </p:nvSpPr>
          <p:spPr>
            <a:xfrm>
              <a:off x="7790688" y="329184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Shape 92"/>
            <p:cNvSpPr/>
            <p:nvPr/>
          </p:nvSpPr>
          <p:spPr>
            <a:xfrm>
              <a:off x="182880" y="3474720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Shape 93"/>
            <p:cNvSpPr/>
            <p:nvPr/>
          </p:nvSpPr>
          <p:spPr>
            <a:xfrm>
              <a:off x="201168" y="3502152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Text 94"/>
            <p:cNvSpPr/>
            <p:nvPr/>
          </p:nvSpPr>
          <p:spPr>
            <a:xfrm>
              <a:off x="201168" y="350215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ext 95"/>
            <p:cNvSpPr/>
            <p:nvPr/>
          </p:nvSpPr>
          <p:spPr>
            <a:xfrm>
              <a:off x="438912" y="3502152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Goldstein et al. (2022) | ECoG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Shape 96"/>
            <p:cNvSpPr/>
            <p:nvPr/>
          </p:nvSpPr>
          <p:spPr>
            <a:xfrm>
              <a:off x="4059936" y="3529584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Shape 97"/>
            <p:cNvSpPr/>
            <p:nvPr/>
          </p:nvSpPr>
          <p:spPr>
            <a:xfrm>
              <a:off x="5321808" y="355701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Shape 98"/>
            <p:cNvSpPr/>
            <p:nvPr/>
          </p:nvSpPr>
          <p:spPr>
            <a:xfrm>
              <a:off x="6556248" y="355701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Shape 99"/>
            <p:cNvSpPr/>
            <p:nvPr/>
          </p:nvSpPr>
          <p:spPr>
            <a:xfrm>
              <a:off x="7790688" y="355701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Shape 100"/>
            <p:cNvSpPr/>
            <p:nvPr/>
          </p:nvSpPr>
          <p:spPr>
            <a:xfrm>
              <a:off x="182880" y="3739896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Shape 101"/>
            <p:cNvSpPr/>
            <p:nvPr/>
          </p:nvSpPr>
          <p:spPr>
            <a:xfrm>
              <a:off x="201168" y="3767328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Text 102"/>
            <p:cNvSpPr/>
            <p:nvPr/>
          </p:nvSpPr>
          <p:spPr>
            <a:xfrm>
              <a:off x="201168" y="3767328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ext 103"/>
            <p:cNvSpPr/>
            <p:nvPr/>
          </p:nvSpPr>
          <p:spPr>
            <a:xfrm>
              <a:off x="438912" y="3767328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Kostas 2021 — BENDR | 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Shape 104"/>
            <p:cNvSpPr/>
            <p:nvPr/>
          </p:nvSpPr>
          <p:spPr>
            <a:xfrm>
              <a:off x="4059936" y="3794760"/>
              <a:ext cx="155448" cy="155448"/>
            </a:xfrm>
            <a:prstGeom prst="ellipse">
              <a:avLst/>
            </a:prstGeom>
            <a:solidFill>
              <a:srgbClr val="534AB7"/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Shape 105"/>
            <p:cNvSpPr/>
            <p:nvPr/>
          </p:nvSpPr>
          <p:spPr>
            <a:xfrm>
              <a:off x="5321808" y="382219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Shape 106"/>
            <p:cNvSpPr/>
            <p:nvPr/>
          </p:nvSpPr>
          <p:spPr>
            <a:xfrm>
              <a:off x="6556248" y="382219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Shape 107"/>
            <p:cNvSpPr/>
            <p:nvPr/>
          </p:nvSpPr>
          <p:spPr>
            <a:xfrm>
              <a:off x="7790688" y="382219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Shape 108"/>
            <p:cNvSpPr/>
            <p:nvPr/>
          </p:nvSpPr>
          <p:spPr>
            <a:xfrm>
              <a:off x="182880" y="4005072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Shape 109"/>
            <p:cNvSpPr/>
            <p:nvPr/>
          </p:nvSpPr>
          <p:spPr>
            <a:xfrm>
              <a:off x="201168" y="40325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 110"/>
            <p:cNvSpPr/>
            <p:nvPr/>
          </p:nvSpPr>
          <p:spPr>
            <a:xfrm>
              <a:off x="201168" y="4032504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 111"/>
            <p:cNvSpPr/>
            <p:nvPr/>
          </p:nvSpPr>
          <p:spPr>
            <a:xfrm>
              <a:off x="438912" y="4032504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Willett et al. (2026) | Intracortical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Shape 112"/>
            <p:cNvSpPr/>
            <p:nvPr/>
          </p:nvSpPr>
          <p:spPr>
            <a:xfrm>
              <a:off x="4059936" y="4059936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Shape 113"/>
            <p:cNvSpPr/>
            <p:nvPr/>
          </p:nvSpPr>
          <p:spPr>
            <a:xfrm>
              <a:off x="5321808" y="408736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Shape 114"/>
            <p:cNvSpPr/>
            <p:nvPr/>
          </p:nvSpPr>
          <p:spPr>
            <a:xfrm>
              <a:off x="6556248" y="408736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115"/>
            <p:cNvSpPr/>
            <p:nvPr/>
          </p:nvSpPr>
          <p:spPr>
            <a:xfrm>
              <a:off x="7790688" y="408736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Shape 116"/>
            <p:cNvSpPr/>
            <p:nvPr/>
          </p:nvSpPr>
          <p:spPr>
            <a:xfrm>
              <a:off x="182880" y="4270248"/>
              <a:ext cx="8823960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Shape 117"/>
            <p:cNvSpPr/>
            <p:nvPr/>
          </p:nvSpPr>
          <p:spPr>
            <a:xfrm>
              <a:off x="182880" y="4270248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Shape 118"/>
            <p:cNvSpPr/>
            <p:nvPr/>
          </p:nvSpPr>
          <p:spPr>
            <a:xfrm>
              <a:off x="201168" y="4297680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 119"/>
            <p:cNvSpPr/>
            <p:nvPr/>
          </p:nvSpPr>
          <p:spPr>
            <a:xfrm>
              <a:off x="201168" y="429768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 120"/>
            <p:cNvSpPr/>
            <p:nvPr/>
          </p:nvSpPr>
          <p:spPr>
            <a:xfrm>
              <a:off x="438912" y="4297680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Card et al. (2024)  1 ALS | Intracortical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121"/>
            <p:cNvSpPr/>
            <p:nvPr/>
          </p:nvSpPr>
          <p:spPr>
            <a:xfrm>
              <a:off x="4087368" y="435254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Shape 122"/>
            <p:cNvSpPr/>
            <p:nvPr/>
          </p:nvSpPr>
          <p:spPr>
            <a:xfrm>
              <a:off x="5294376" y="4325112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Shape 123"/>
            <p:cNvSpPr/>
            <p:nvPr/>
          </p:nvSpPr>
          <p:spPr>
            <a:xfrm>
              <a:off x="6556248" y="435254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Shape 124"/>
            <p:cNvSpPr/>
            <p:nvPr/>
          </p:nvSpPr>
          <p:spPr>
            <a:xfrm>
              <a:off x="7790688" y="435254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Shape 125"/>
            <p:cNvSpPr/>
            <p:nvPr/>
          </p:nvSpPr>
          <p:spPr>
            <a:xfrm>
              <a:off x="182880" y="4535424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Shape 126"/>
            <p:cNvSpPr/>
            <p:nvPr/>
          </p:nvSpPr>
          <p:spPr>
            <a:xfrm>
              <a:off x="201168" y="4562856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ext 127"/>
            <p:cNvSpPr/>
            <p:nvPr/>
          </p:nvSpPr>
          <p:spPr>
            <a:xfrm>
              <a:off x="201168" y="4562856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Text 128"/>
            <p:cNvSpPr/>
            <p:nvPr/>
          </p:nvSpPr>
          <p:spPr>
            <a:xfrm>
              <a:off x="438912" y="4562856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Degenhart et al. (2020)  2 pts | Intracortical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Shape 129"/>
            <p:cNvSpPr/>
            <p:nvPr/>
          </p:nvSpPr>
          <p:spPr>
            <a:xfrm>
              <a:off x="4087368" y="461772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Shape 130"/>
            <p:cNvSpPr/>
            <p:nvPr/>
          </p:nvSpPr>
          <p:spPr>
            <a:xfrm>
              <a:off x="5294376" y="4590288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Shape 131"/>
            <p:cNvSpPr/>
            <p:nvPr/>
          </p:nvSpPr>
          <p:spPr>
            <a:xfrm>
              <a:off x="6556248" y="461772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Shape 132"/>
            <p:cNvSpPr/>
            <p:nvPr/>
          </p:nvSpPr>
          <p:spPr>
            <a:xfrm>
              <a:off x="7790688" y="461772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Shape 133"/>
            <p:cNvSpPr/>
            <p:nvPr/>
          </p:nvSpPr>
          <p:spPr>
            <a:xfrm>
              <a:off x="182880" y="4800600"/>
              <a:ext cx="8823960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Shape 134"/>
            <p:cNvSpPr/>
            <p:nvPr/>
          </p:nvSpPr>
          <p:spPr>
            <a:xfrm>
              <a:off x="182880" y="4800600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Shape 135"/>
            <p:cNvSpPr/>
            <p:nvPr/>
          </p:nvSpPr>
          <p:spPr>
            <a:xfrm>
              <a:off x="201168" y="4828032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993C1D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Text 136"/>
            <p:cNvSpPr/>
            <p:nvPr/>
          </p:nvSpPr>
          <p:spPr>
            <a:xfrm>
              <a:off x="201168" y="482803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 137"/>
            <p:cNvSpPr/>
            <p:nvPr/>
          </p:nvSpPr>
          <p:spPr>
            <a:xfrm>
              <a:off x="438912" y="4828032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Zhu et al. (2021) | HD-sEMG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Shape 138"/>
            <p:cNvSpPr/>
            <p:nvPr/>
          </p:nvSpPr>
          <p:spPr>
            <a:xfrm>
              <a:off x="4087368" y="488289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Shape 139"/>
            <p:cNvSpPr/>
            <p:nvPr/>
          </p:nvSpPr>
          <p:spPr>
            <a:xfrm>
              <a:off x="5321808" y="488289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Shape 140"/>
            <p:cNvSpPr/>
            <p:nvPr/>
          </p:nvSpPr>
          <p:spPr>
            <a:xfrm>
              <a:off x="6528816" y="4855464"/>
              <a:ext cx="155448" cy="155448"/>
            </a:xfrm>
            <a:prstGeom prst="ellipse">
              <a:avLst/>
            </a:prstGeom>
            <a:solidFill>
              <a:srgbClr val="993C1D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Shape 141"/>
            <p:cNvSpPr/>
            <p:nvPr/>
          </p:nvSpPr>
          <p:spPr>
            <a:xfrm>
              <a:off x="7790688" y="488289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Shape 142"/>
            <p:cNvSpPr/>
            <p:nvPr/>
          </p:nvSpPr>
          <p:spPr>
            <a:xfrm>
              <a:off x="182880" y="5065776"/>
              <a:ext cx="8823960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Shape 143"/>
            <p:cNvSpPr/>
            <p:nvPr/>
          </p:nvSpPr>
          <p:spPr>
            <a:xfrm>
              <a:off x="182880" y="5065776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Shape 144"/>
            <p:cNvSpPr/>
            <p:nvPr/>
          </p:nvSpPr>
          <p:spPr>
            <a:xfrm>
              <a:off x="201168" y="5093208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 145"/>
            <p:cNvSpPr/>
            <p:nvPr/>
          </p:nvSpPr>
          <p:spPr>
            <a:xfrm>
              <a:off x="201168" y="5093208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 146"/>
            <p:cNvSpPr/>
            <p:nvPr/>
          </p:nvSpPr>
          <p:spPr>
            <a:xfrm>
              <a:off x="438912" y="5093208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Peterson et al. (2021) | EEG/ECoG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Shape 147"/>
            <p:cNvSpPr/>
            <p:nvPr/>
          </p:nvSpPr>
          <p:spPr>
            <a:xfrm>
              <a:off x="4059936" y="5120640"/>
              <a:ext cx="155448" cy="1554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 148"/>
            <p:cNvSpPr/>
            <p:nvPr/>
          </p:nvSpPr>
          <p:spPr>
            <a:xfrm>
              <a:off x="4059936" y="51206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3B6D11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½</a:t>
              </a:r>
              <a:endParaRPr 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Shape 149"/>
            <p:cNvSpPr/>
            <p:nvPr/>
          </p:nvSpPr>
          <p:spPr>
            <a:xfrm>
              <a:off x="5321808" y="514807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Shape 150"/>
            <p:cNvSpPr/>
            <p:nvPr/>
          </p:nvSpPr>
          <p:spPr>
            <a:xfrm>
              <a:off x="6556248" y="5148072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Shape 151"/>
            <p:cNvSpPr/>
            <p:nvPr/>
          </p:nvSpPr>
          <p:spPr>
            <a:xfrm>
              <a:off x="7763256" y="5120640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Text 152"/>
            <p:cNvSpPr/>
            <p:nvPr/>
          </p:nvSpPr>
          <p:spPr>
            <a:xfrm>
              <a:off x="8531352" y="5102352"/>
              <a:ext cx="365760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×2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Shape 153"/>
            <p:cNvSpPr/>
            <p:nvPr/>
          </p:nvSpPr>
          <p:spPr>
            <a:xfrm>
              <a:off x="182880" y="5330952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Shape 154"/>
            <p:cNvSpPr/>
            <p:nvPr/>
          </p:nvSpPr>
          <p:spPr>
            <a:xfrm>
              <a:off x="201168" y="535838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BA7517"/>
            </a:solidFill>
            <a:ln w="127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 155"/>
            <p:cNvSpPr/>
            <p:nvPr/>
          </p:nvSpPr>
          <p:spPr>
            <a:xfrm>
              <a:off x="201168" y="5358384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Text 156"/>
            <p:cNvSpPr/>
            <p:nvPr/>
          </p:nvSpPr>
          <p:spPr>
            <a:xfrm>
              <a:off x="438912" y="5358384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Tang &amp; Huth (2025) | EEG/MEG/fMRI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Shape 157"/>
            <p:cNvSpPr/>
            <p:nvPr/>
          </p:nvSpPr>
          <p:spPr>
            <a:xfrm>
              <a:off x="4059936" y="5385816"/>
              <a:ext cx="155448" cy="155448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Shape 158"/>
            <p:cNvSpPr/>
            <p:nvPr/>
          </p:nvSpPr>
          <p:spPr>
            <a:xfrm>
              <a:off x="5321808" y="541324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Shape 159"/>
            <p:cNvSpPr/>
            <p:nvPr/>
          </p:nvSpPr>
          <p:spPr>
            <a:xfrm>
              <a:off x="6556248" y="5413248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Shape 160"/>
            <p:cNvSpPr/>
            <p:nvPr/>
          </p:nvSpPr>
          <p:spPr>
            <a:xfrm>
              <a:off x="7763256" y="5385816"/>
              <a:ext cx="155448" cy="155448"/>
            </a:xfrm>
            <a:prstGeom prst="ellipse">
              <a:avLst/>
            </a:prstGeom>
            <a:solidFill>
              <a:srgbClr val="BA7517"/>
            </a:solidFill>
            <a:ln w="635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Text 161"/>
            <p:cNvSpPr/>
            <p:nvPr/>
          </p:nvSpPr>
          <p:spPr>
            <a:xfrm>
              <a:off x="8531352" y="5367528"/>
              <a:ext cx="365760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×2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Shape 162"/>
            <p:cNvSpPr/>
            <p:nvPr/>
          </p:nvSpPr>
          <p:spPr>
            <a:xfrm>
              <a:off x="182880" y="5596128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Shape 163"/>
            <p:cNvSpPr/>
            <p:nvPr/>
          </p:nvSpPr>
          <p:spPr>
            <a:xfrm>
              <a:off x="201168" y="5623560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Text 164"/>
            <p:cNvSpPr/>
            <p:nvPr/>
          </p:nvSpPr>
          <p:spPr>
            <a:xfrm>
              <a:off x="201168" y="562356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Text 165"/>
            <p:cNvSpPr/>
            <p:nvPr/>
          </p:nvSpPr>
          <p:spPr>
            <a:xfrm>
              <a:off x="438912" y="5623560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de Borman et al. (2024)  n=16 | ECoG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Shape 166"/>
            <p:cNvSpPr/>
            <p:nvPr/>
          </p:nvSpPr>
          <p:spPr>
            <a:xfrm>
              <a:off x="4059936" y="5650992"/>
              <a:ext cx="155448" cy="1554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Text 167"/>
            <p:cNvSpPr/>
            <p:nvPr/>
          </p:nvSpPr>
          <p:spPr>
            <a:xfrm>
              <a:off x="4059936" y="565099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½</a:t>
              </a:r>
              <a:endParaRPr 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Shape 168"/>
            <p:cNvSpPr/>
            <p:nvPr/>
          </p:nvSpPr>
          <p:spPr>
            <a:xfrm>
              <a:off x="5321808" y="567842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Shape 169"/>
            <p:cNvSpPr/>
            <p:nvPr/>
          </p:nvSpPr>
          <p:spPr>
            <a:xfrm>
              <a:off x="6556248" y="5678424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Shape 170"/>
            <p:cNvSpPr/>
            <p:nvPr/>
          </p:nvSpPr>
          <p:spPr>
            <a:xfrm>
              <a:off x="7763256" y="5650992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Text 171"/>
            <p:cNvSpPr/>
            <p:nvPr/>
          </p:nvSpPr>
          <p:spPr>
            <a:xfrm>
              <a:off x="8531352" y="5632704"/>
              <a:ext cx="365760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×2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Shape 172"/>
            <p:cNvSpPr/>
            <p:nvPr/>
          </p:nvSpPr>
          <p:spPr>
            <a:xfrm>
              <a:off x="182880" y="5861304"/>
              <a:ext cx="8823960" cy="24688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Shape 173"/>
            <p:cNvSpPr/>
            <p:nvPr/>
          </p:nvSpPr>
          <p:spPr>
            <a:xfrm>
              <a:off x="201168" y="5888736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Text 174"/>
            <p:cNvSpPr/>
            <p:nvPr/>
          </p:nvSpPr>
          <p:spPr>
            <a:xfrm>
              <a:off x="201168" y="5888736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Text 175"/>
            <p:cNvSpPr/>
            <p:nvPr/>
          </p:nvSpPr>
          <p:spPr>
            <a:xfrm>
              <a:off x="438912" y="5888736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Martin et al. (2025) | ECoG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Shape 176"/>
            <p:cNvSpPr/>
            <p:nvPr/>
          </p:nvSpPr>
          <p:spPr>
            <a:xfrm>
              <a:off x="4059936" y="5916168"/>
              <a:ext cx="155448" cy="1554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77"/>
            <p:cNvSpPr/>
            <p:nvPr/>
          </p:nvSpPr>
          <p:spPr>
            <a:xfrm>
              <a:off x="4059936" y="591616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½</a:t>
              </a:r>
              <a:endParaRPr 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Shape 178"/>
            <p:cNvSpPr/>
            <p:nvPr/>
          </p:nvSpPr>
          <p:spPr>
            <a:xfrm>
              <a:off x="5321808" y="594360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Shape 179"/>
            <p:cNvSpPr/>
            <p:nvPr/>
          </p:nvSpPr>
          <p:spPr>
            <a:xfrm>
              <a:off x="6556248" y="5943600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Shape 180"/>
            <p:cNvSpPr/>
            <p:nvPr/>
          </p:nvSpPr>
          <p:spPr>
            <a:xfrm>
              <a:off x="7763256" y="5916168"/>
              <a:ext cx="155448" cy="15544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 181"/>
            <p:cNvSpPr/>
            <p:nvPr/>
          </p:nvSpPr>
          <p:spPr>
            <a:xfrm>
              <a:off x="8531352" y="5897880"/>
              <a:ext cx="365760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651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×2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Shape 182"/>
            <p:cNvSpPr/>
            <p:nvPr/>
          </p:nvSpPr>
          <p:spPr>
            <a:xfrm>
              <a:off x="182880" y="6126480"/>
              <a:ext cx="8823960" cy="246888"/>
            </a:xfrm>
            <a:prstGeom prst="rect">
              <a:avLst/>
            </a:prstGeom>
            <a:solidFill>
              <a:srgbClr val="FAFAFA"/>
            </a:solidFill>
            <a:ln w="3810">
              <a:solidFill>
                <a:srgbClr val="EEEEE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Shape 183"/>
            <p:cNvSpPr/>
            <p:nvPr/>
          </p:nvSpPr>
          <p:spPr>
            <a:xfrm>
              <a:off x="201168" y="6153912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Text 184"/>
            <p:cNvSpPr/>
            <p:nvPr/>
          </p:nvSpPr>
          <p:spPr>
            <a:xfrm>
              <a:off x="201168" y="615391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Text 185"/>
            <p:cNvSpPr/>
            <p:nvPr/>
          </p:nvSpPr>
          <p:spPr>
            <a:xfrm>
              <a:off x="438912" y="6153912"/>
              <a:ext cx="3017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222222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Alonso-Vazquez et al. (2025) | EEG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Shape 186"/>
            <p:cNvSpPr/>
            <p:nvPr/>
          </p:nvSpPr>
          <p:spPr>
            <a:xfrm>
              <a:off x="4087368" y="620877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Shape 187"/>
            <p:cNvSpPr/>
            <p:nvPr/>
          </p:nvSpPr>
          <p:spPr>
            <a:xfrm>
              <a:off x="5321808" y="620877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Shape 188"/>
            <p:cNvSpPr/>
            <p:nvPr/>
          </p:nvSpPr>
          <p:spPr>
            <a:xfrm>
              <a:off x="6556248" y="6208776"/>
              <a:ext cx="100584" cy="10058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Shape 189"/>
            <p:cNvSpPr/>
            <p:nvPr/>
          </p:nvSpPr>
          <p:spPr>
            <a:xfrm>
              <a:off x="7763256" y="6181344"/>
              <a:ext cx="155448" cy="155448"/>
            </a:xfrm>
            <a:prstGeom prst="ellipse">
              <a:avLst/>
            </a:prstGeom>
            <a:solidFill>
              <a:srgbClr val="3B6D11"/>
            </a:solidFill>
            <a:ln w="635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Shape 190"/>
            <p:cNvSpPr/>
            <p:nvPr/>
          </p:nvSpPr>
          <p:spPr>
            <a:xfrm>
              <a:off x="18288" y="822960"/>
              <a:ext cx="155448" cy="3410712"/>
            </a:xfrm>
            <a:prstGeom prst="roundRect">
              <a:avLst>
                <a:gd name="adj" fmla="val 23529"/>
              </a:avLst>
            </a:prstGeom>
            <a:solidFill>
              <a:srgbClr val="DEEAF1"/>
            </a:solidFill>
            <a:ln w="12700">
              <a:solidFill>
                <a:srgbClr val="185FA5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Text 191"/>
            <p:cNvSpPr/>
            <p:nvPr/>
          </p:nvSpPr>
          <p:spPr>
            <a:xfrm rot="16200000">
              <a:off x="-146303" y="2587754"/>
              <a:ext cx="493776" cy="20116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CP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Shape 192"/>
            <p:cNvSpPr/>
            <p:nvPr/>
          </p:nvSpPr>
          <p:spPr>
            <a:xfrm>
              <a:off x="18288" y="4270248"/>
              <a:ext cx="155448" cy="493776"/>
            </a:xfrm>
            <a:prstGeom prst="roundRect">
              <a:avLst>
                <a:gd name="adj" fmla="val 23529"/>
              </a:avLst>
            </a:prstGeom>
            <a:solidFill>
              <a:srgbClr val="E2EFDA"/>
            </a:solidFill>
            <a:ln w="12700">
              <a:solidFill>
                <a:srgbClr val="375623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Text 193"/>
            <p:cNvSpPr/>
            <p:nvPr/>
          </p:nvSpPr>
          <p:spPr>
            <a:xfrm rot="16200000">
              <a:off x="-90379" y="4394752"/>
              <a:ext cx="381929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7562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CS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Shape 194"/>
            <p:cNvSpPr/>
            <p:nvPr/>
          </p:nvSpPr>
          <p:spPr>
            <a:xfrm>
              <a:off x="18288" y="4800600"/>
              <a:ext cx="155448" cy="228600"/>
            </a:xfrm>
            <a:prstGeom prst="roundRect">
              <a:avLst>
                <a:gd name="adj" fmla="val 23529"/>
              </a:avLst>
            </a:prstGeom>
            <a:solidFill>
              <a:srgbClr val="FFF2CC"/>
            </a:solidFill>
            <a:ln w="12700">
              <a:solidFill>
                <a:srgbClr val="7F6000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Text 195"/>
            <p:cNvSpPr/>
            <p:nvPr/>
          </p:nvSpPr>
          <p:spPr>
            <a:xfrm rot="16200000">
              <a:off x="-91440" y="4791384"/>
              <a:ext cx="374904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7F6000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CL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Shape 196"/>
            <p:cNvSpPr/>
            <p:nvPr/>
          </p:nvSpPr>
          <p:spPr>
            <a:xfrm>
              <a:off x="18288" y="5065776"/>
              <a:ext cx="155448" cy="1289304"/>
            </a:xfrm>
            <a:prstGeom prst="roundRect">
              <a:avLst>
                <a:gd name="adj" fmla="val 23529"/>
              </a:avLst>
            </a:prstGeom>
            <a:solidFill>
              <a:srgbClr val="FCE4D6"/>
            </a:solidFill>
            <a:ln w="12700">
              <a:solidFill>
                <a:srgbClr val="843C0C"/>
              </a:solidFill>
              <a:prstDash val="solid"/>
            </a:ln>
            <a:effectLst>
              <a:softEdge rad="12700"/>
            </a:effec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Text 197"/>
            <p:cNvSpPr/>
            <p:nvPr/>
          </p:nvSpPr>
          <p:spPr>
            <a:xfrm rot="16200000">
              <a:off x="-109728" y="5742432"/>
              <a:ext cx="40233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843C0C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CM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Text 200"/>
            <p:cNvSpPr/>
            <p:nvPr/>
          </p:nvSpPr>
          <p:spPr>
            <a:xfrm>
              <a:off x="9052560" y="777240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Legend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Shape 201"/>
            <p:cNvSpPr/>
            <p:nvPr/>
          </p:nvSpPr>
          <p:spPr>
            <a:xfrm>
              <a:off x="9052560" y="1097280"/>
              <a:ext cx="201168" cy="201168"/>
            </a:xfrm>
            <a:prstGeom prst="ellipse">
              <a:avLst/>
            </a:prstGeom>
            <a:solidFill>
              <a:srgbClr val="185FA5"/>
            </a:solidFill>
            <a:ln w="63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Text 202"/>
            <p:cNvSpPr/>
            <p:nvPr/>
          </p:nvSpPr>
          <p:spPr>
            <a:xfrm>
              <a:off x="9308592" y="1097280"/>
              <a:ext cx="986893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Strong evidence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Shape 203"/>
            <p:cNvSpPr/>
            <p:nvPr/>
          </p:nvSpPr>
          <p:spPr>
            <a:xfrm>
              <a:off x="9052560" y="1508760"/>
              <a:ext cx="201168" cy="2011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Text 204"/>
            <p:cNvSpPr/>
            <p:nvPr/>
          </p:nvSpPr>
          <p:spPr>
            <a:xfrm>
              <a:off x="9052560" y="150876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185FA5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½</a:t>
              </a:r>
              <a:endParaRPr 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Text 205"/>
            <p:cNvSpPr/>
            <p:nvPr/>
          </p:nvSpPr>
          <p:spPr>
            <a:xfrm>
              <a:off x="9308592" y="1380744"/>
              <a:ext cx="101160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Partial evidence (½)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Shape 206"/>
            <p:cNvSpPr/>
            <p:nvPr/>
          </p:nvSpPr>
          <p:spPr>
            <a:xfrm>
              <a:off x="9079992" y="1947672"/>
              <a:ext cx="146304" cy="146304"/>
            </a:xfrm>
            <a:prstGeom prst="ellipse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Text 207"/>
            <p:cNvSpPr/>
            <p:nvPr/>
          </p:nvSpPr>
          <p:spPr>
            <a:xfrm>
              <a:off x="9308592" y="1920240"/>
              <a:ext cx="101984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No evidence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Text 208"/>
            <p:cNvSpPr/>
            <p:nvPr/>
          </p:nvSpPr>
          <p:spPr>
            <a:xfrm>
              <a:off x="9052560" y="2468880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Modality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Shape 209"/>
            <p:cNvSpPr/>
            <p:nvPr/>
          </p:nvSpPr>
          <p:spPr>
            <a:xfrm>
              <a:off x="9052560" y="2743200"/>
              <a:ext cx="201168" cy="201168"/>
            </a:xfrm>
            <a:prstGeom prst="roundRect">
              <a:avLst>
                <a:gd name="adj" fmla="val 18182"/>
              </a:avLst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 210"/>
            <p:cNvSpPr/>
            <p:nvPr/>
          </p:nvSpPr>
          <p:spPr>
            <a:xfrm>
              <a:off x="9052560" y="2743200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A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Text 211"/>
            <p:cNvSpPr/>
            <p:nvPr/>
          </p:nvSpPr>
          <p:spPr>
            <a:xfrm>
              <a:off x="9299448" y="2743200"/>
              <a:ext cx="872469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Invasive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Shape 212"/>
            <p:cNvSpPr/>
            <p:nvPr/>
          </p:nvSpPr>
          <p:spPr>
            <a:xfrm>
              <a:off x="9052560" y="3127248"/>
              <a:ext cx="201168" cy="201168"/>
            </a:xfrm>
            <a:prstGeom prst="roundRect">
              <a:avLst>
                <a:gd name="adj" fmla="val 18182"/>
              </a:avLst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Text 213"/>
            <p:cNvSpPr/>
            <p:nvPr/>
          </p:nvSpPr>
          <p:spPr>
            <a:xfrm>
              <a:off x="9052560" y="3127248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B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 214"/>
            <p:cNvSpPr/>
            <p:nvPr/>
          </p:nvSpPr>
          <p:spPr>
            <a:xfrm>
              <a:off x="9299448" y="3127248"/>
              <a:ext cx="65828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EEG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Shape 215"/>
            <p:cNvSpPr/>
            <p:nvPr/>
          </p:nvSpPr>
          <p:spPr>
            <a:xfrm>
              <a:off x="9052560" y="3511296"/>
              <a:ext cx="201168" cy="201168"/>
            </a:xfrm>
            <a:prstGeom prst="roundRect">
              <a:avLst>
                <a:gd name="adj" fmla="val 18182"/>
              </a:avLst>
            </a:prstGeom>
            <a:solidFill>
              <a:srgbClr val="BA7517"/>
            </a:solidFill>
            <a:ln w="127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Text 216"/>
            <p:cNvSpPr/>
            <p:nvPr/>
          </p:nvSpPr>
          <p:spPr>
            <a:xfrm>
              <a:off x="9052560" y="3511296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C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 217"/>
            <p:cNvSpPr/>
            <p:nvPr/>
          </p:nvSpPr>
          <p:spPr>
            <a:xfrm>
              <a:off x="9299448" y="3511296"/>
              <a:ext cx="7571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MEG/fMRI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Shape 218"/>
            <p:cNvSpPr/>
            <p:nvPr/>
          </p:nvSpPr>
          <p:spPr>
            <a:xfrm>
              <a:off x="9052560" y="3895344"/>
              <a:ext cx="201168" cy="201168"/>
            </a:xfrm>
            <a:prstGeom prst="roundRect">
              <a:avLst>
                <a:gd name="adj" fmla="val 18182"/>
              </a:avLst>
            </a:prstGeom>
            <a:solidFill>
              <a:srgbClr val="993C1D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Text 219"/>
            <p:cNvSpPr/>
            <p:nvPr/>
          </p:nvSpPr>
          <p:spPr>
            <a:xfrm>
              <a:off x="9052560" y="3895344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D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 220"/>
            <p:cNvSpPr/>
            <p:nvPr/>
          </p:nvSpPr>
          <p:spPr>
            <a:xfrm>
              <a:off x="9299448" y="3895344"/>
              <a:ext cx="666523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Hybrid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Shape 221"/>
            <p:cNvSpPr/>
            <p:nvPr/>
          </p:nvSpPr>
          <p:spPr>
            <a:xfrm>
              <a:off x="9052560" y="4279392"/>
              <a:ext cx="201168" cy="201168"/>
            </a:xfrm>
            <a:prstGeom prst="roundRect">
              <a:avLst>
                <a:gd name="adj" fmla="val 18182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Text 222"/>
            <p:cNvSpPr/>
            <p:nvPr/>
          </p:nvSpPr>
          <p:spPr>
            <a:xfrm>
              <a:off x="9052560" y="427939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E</a:t>
              </a:r>
              <a:endParaRPr 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Text 223"/>
            <p:cNvSpPr/>
            <p:nvPr/>
          </p:nvSpPr>
          <p:spPr>
            <a:xfrm>
              <a:off x="9299448" y="4279392"/>
              <a:ext cx="74066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Foundation</a:t>
              </a:r>
              <a:endParaRPr lang="en-US" sz="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6" name="Text 224"/>
          <p:cNvSpPr/>
          <p:nvPr/>
        </p:nvSpPr>
        <p:spPr>
          <a:xfrm>
            <a:off x="182880" y="6455664"/>
            <a:ext cx="11887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Figure 6. Generalization evidence map for 21 of 71 included studies. Filled circles = primary evidence; half-filled (½) = secondary/partial. CP=cross-participant; CS=cross-session; CL=cross-language; CM=cross-modal. Red bar: 40/71 studies (56%) showed no generalization beyond single participant and single session.</a:t>
            </a:r>
            <a:endParaRPr lang="en-US" sz="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748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1353</Words>
  <Application>Microsoft Macintosh PowerPoint</Application>
  <PresentationFormat>Widescreen</PresentationFormat>
  <Paragraphs>299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Blessing I Adeika</dc:creator>
  <cp:lastModifiedBy>Blessing I Adeika</cp:lastModifiedBy>
  <cp:revision>9</cp:revision>
  <dcterms:created xsi:type="dcterms:W3CDTF">2026-05-04T20:34:37Z</dcterms:created>
  <dcterms:modified xsi:type="dcterms:W3CDTF">2026-05-05T23:05:36Z</dcterms:modified>
</cp:coreProperties>
</file>