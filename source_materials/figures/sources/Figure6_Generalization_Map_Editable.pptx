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1188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6  |  Generalization Evidence Map  |  21 Studies Demonstrating Generalization from 71 Included (2015–2026)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0" y="438912"/>
            <a:ext cx="1143000" cy="365760"/>
          </a:xfrm>
          <a:prstGeom prst="roundRect">
            <a:avLst>
              <a:gd name="adj" fmla="val 10000"/>
            </a:avLst>
          </a:prstGeom>
          <a:solidFill>
            <a:srgbClr val="DEEAF1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43891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Cross-participant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(CP)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800600" y="438912"/>
            <a:ext cx="1143000" cy="36576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43891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Cross-session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(CS)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035040" y="438912"/>
            <a:ext cx="1143000" cy="36576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43891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Cross-language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269480" y="438912"/>
            <a:ext cx="1143000" cy="365760"/>
          </a:xfrm>
          <a:prstGeom prst="roundRect">
            <a:avLst>
              <a:gd name="adj" fmla="val 10000"/>
            </a:avLst>
          </a:prstGeom>
          <a:solidFill>
            <a:srgbClr val="FCE4D6"/>
          </a:solidFill>
          <a:ln w="12700">
            <a:solidFill>
              <a:srgbClr val="843C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43891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(CM)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31352" y="438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2880" y="822960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5039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850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38912" y="8503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d'Ascoli et al. (2025)  n=723 | EEG/MEG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059936" y="877824"/>
            <a:ext cx="155448" cy="155448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1808" y="90525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877824"/>
            <a:ext cx="155448" cy="155448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0688" y="90525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31352" y="859536"/>
            <a:ext cx="365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2880" y="1088136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111556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11155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38912" y="111556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Défossez et al. (2023)  n=175 | MEG/EEG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059936" y="1143000"/>
            <a:ext cx="155448" cy="155448"/>
          </a:xfrm>
          <a:prstGeom prst="ellipse">
            <a:avLst/>
          </a:prstGeom>
          <a:solidFill>
            <a:srgbClr val="3B6D11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1808" y="117043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56248" y="117043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117043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1353312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138074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13807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38912" y="138074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et al. (2024)  n=48 | ECoG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059936" y="1408176"/>
            <a:ext cx="155448" cy="155448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21808" y="143560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56248" y="143560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90688" y="143560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1618488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" y="16459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" y="1645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38912" y="16459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Singh et al. (2025)  n=25 | sEEG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059936" y="1673352"/>
            <a:ext cx="155448" cy="155448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21808" y="170078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56248" y="170078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90688" y="170078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1883664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1168" y="191109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19110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38912" y="191109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et al. (2023) BrainBERT | iEEG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059936" y="1938528"/>
            <a:ext cx="155448" cy="155448"/>
          </a:xfrm>
          <a:prstGeom prst="ellipse">
            <a:avLst/>
          </a:prstGeom>
          <a:solidFill>
            <a:srgbClr val="534AB7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21808" y="196596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56248" y="196596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90688" y="196596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2880" y="2148840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" y="217627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" y="21762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38912" y="21762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Yuan &amp; Makin (2024) | ECoG SSL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059936" y="2203704"/>
            <a:ext cx="155448" cy="155448"/>
          </a:xfrm>
          <a:prstGeom prst="ellipse">
            <a:avLst/>
          </a:prstGeom>
          <a:solidFill>
            <a:srgbClr val="534AB7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21808" y="223113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56248" y="223113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90688" y="223113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2880" y="2414016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1168" y="24414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1168" y="24414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38912" y="244144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et al. (2019)  n=10 | EEG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059936" y="2468880"/>
            <a:ext cx="155448" cy="155448"/>
          </a:xfrm>
          <a:prstGeom prst="ellipse">
            <a:avLst/>
          </a:prstGeom>
          <a:solidFill>
            <a:srgbClr val="3B6D11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21808" y="249631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56248" y="249631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90688" y="249631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2880" y="2679192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1168" y="270662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01168" y="27066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38912" y="270662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Agarwal &amp; Kumar (2022)  n=13 | EEG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059936" y="2734056"/>
            <a:ext cx="155448" cy="155448"/>
          </a:xfrm>
          <a:prstGeom prst="ellipse">
            <a:avLst/>
          </a:prstGeom>
          <a:solidFill>
            <a:srgbClr val="3B6D11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321808" y="276148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56248" y="276148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90688" y="276148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2880" y="2944368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1168" y="29718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01168" y="2971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38912" y="29718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Mahapatra &amp; Bhuyan (2023) | EEG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059936" y="2999232"/>
            <a:ext cx="155448" cy="155448"/>
          </a:xfrm>
          <a:prstGeom prst="ellipse">
            <a:avLst/>
          </a:prstGeom>
          <a:solidFill>
            <a:srgbClr val="3B6D11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21808" y="302666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556248" y="302666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90688" y="302666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2880" y="3209544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1168" y="32369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1168" y="32369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438912" y="323697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Caucheteux et al. (2022) | MEG/fMRI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059936" y="3264408"/>
            <a:ext cx="155448" cy="155448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321808" y="329184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56248" y="329184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90688" y="329184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82880" y="3474720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01168" y="35021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1168" y="3502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438912" y="35021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Goldstein et al. (2022) | ECoG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4059936" y="3529584"/>
            <a:ext cx="155448" cy="155448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321808" y="355701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556248" y="355701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790688" y="355701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82880" y="3739896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1168" y="376732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01168" y="37673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438912" y="37673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Kostas 2021 — BENDR | EEG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4059936" y="3794760"/>
            <a:ext cx="155448" cy="155448"/>
          </a:xfrm>
          <a:prstGeom prst="ellipse">
            <a:avLst/>
          </a:prstGeom>
          <a:solidFill>
            <a:srgbClr val="534AB7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321808" y="382219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556248" y="382219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790688" y="382219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82880" y="4005072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01168" y="403250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01168" y="40325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38912" y="403250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Willett et al. (2026) | Intracortical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4059936" y="4059936"/>
            <a:ext cx="155448" cy="155448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21808" y="408736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556248" y="408736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790688" y="408736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82880" y="4270248"/>
            <a:ext cx="882396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>
            <a:off x="182880" y="4270248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01168" y="4297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01168" y="42976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438912" y="42976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et al. (2024)  1 ALS | Intracortical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4087368" y="435254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294376" y="4325112"/>
            <a:ext cx="155448" cy="155448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556248" y="435254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790688" y="435254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82880" y="4535424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01168" y="456285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01168" y="4562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438912" y="456285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Degenhart et al. (2020)  2 pts | Intracortical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4087368" y="461772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294376" y="4590288"/>
            <a:ext cx="155448" cy="155448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556248" y="461772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790688" y="461772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82880" y="4800600"/>
            <a:ext cx="882396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dash"/>
          </a:ln>
        </p:spPr>
      </p:sp>
      <p:sp>
        <p:nvSpPr>
          <p:cNvPr id="136" name="Shape 134"/>
          <p:cNvSpPr/>
          <p:nvPr/>
        </p:nvSpPr>
        <p:spPr>
          <a:xfrm>
            <a:off x="182880" y="4800600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01168" y="482803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01168" y="4828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438912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Zhu et al. (2021) | HD-sEMG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4087368" y="488289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321808" y="488289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28816" y="4855464"/>
            <a:ext cx="155448" cy="155448"/>
          </a:xfrm>
          <a:prstGeom prst="ellipse">
            <a:avLst/>
          </a:prstGeom>
          <a:solidFill>
            <a:srgbClr val="993C1D"/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790688" y="488289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82880" y="5065776"/>
            <a:ext cx="882396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dash"/>
          </a:ln>
        </p:spPr>
      </p:sp>
      <p:sp>
        <p:nvSpPr>
          <p:cNvPr id="145" name="Shape 143"/>
          <p:cNvSpPr/>
          <p:nvPr/>
        </p:nvSpPr>
        <p:spPr>
          <a:xfrm>
            <a:off x="182880" y="5065776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01168" y="509320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01168" y="50932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438912" y="50932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Peterson et al. (2021) | EEG/ECoG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059936" y="5120640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059936" y="5120640"/>
            <a:ext cx="1554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½</a:t>
            </a:r>
            <a:endParaRPr lang="en-US" sz="600" dirty="0"/>
          </a:p>
        </p:txBody>
      </p:sp>
      <p:sp>
        <p:nvSpPr>
          <p:cNvPr id="151" name="Shape 149"/>
          <p:cNvSpPr/>
          <p:nvPr/>
        </p:nvSpPr>
        <p:spPr>
          <a:xfrm>
            <a:off x="5321808" y="514807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556248" y="5148072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763256" y="5120640"/>
            <a:ext cx="155448" cy="155448"/>
          </a:xfrm>
          <a:prstGeom prst="ellipse">
            <a:avLst/>
          </a:prstGeom>
          <a:solidFill>
            <a:srgbClr val="3B6D11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531352" y="5102352"/>
            <a:ext cx="365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182880" y="5330952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01168" y="535838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01168" y="53583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438912" y="53583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 &amp; Huth (2025) | EEG/MEG/fMRI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4059936" y="5385816"/>
            <a:ext cx="155448" cy="155448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321808" y="541324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556248" y="5413248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63256" y="5385816"/>
            <a:ext cx="155448" cy="155448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531352" y="5367528"/>
            <a:ext cx="365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182880" y="5596128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01168" y="5623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01168" y="5623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438912" y="56235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Borman et al. (2024)  n=16 | ECoG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4059936" y="5650992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059936" y="5650992"/>
            <a:ext cx="1554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½</a:t>
            </a:r>
            <a:endParaRPr lang="en-US" sz="600" dirty="0"/>
          </a:p>
        </p:txBody>
      </p:sp>
      <p:sp>
        <p:nvSpPr>
          <p:cNvPr id="170" name="Shape 168"/>
          <p:cNvSpPr/>
          <p:nvPr/>
        </p:nvSpPr>
        <p:spPr>
          <a:xfrm>
            <a:off x="5321808" y="567842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556248" y="5678424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763256" y="5650992"/>
            <a:ext cx="155448" cy="155448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531352" y="5632704"/>
            <a:ext cx="365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182880" y="5861304"/>
            <a:ext cx="88239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01168" y="588873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01168" y="5888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177" name="Text 175"/>
          <p:cNvSpPr/>
          <p:nvPr/>
        </p:nvSpPr>
        <p:spPr>
          <a:xfrm>
            <a:off x="438912" y="58887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 et al. (2025) | ECoG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4059936" y="5916168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059936" y="5916168"/>
            <a:ext cx="1554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½</a:t>
            </a:r>
            <a:endParaRPr lang="en-US" sz="600" dirty="0"/>
          </a:p>
        </p:txBody>
      </p:sp>
      <p:sp>
        <p:nvSpPr>
          <p:cNvPr id="180" name="Shape 178"/>
          <p:cNvSpPr/>
          <p:nvPr/>
        </p:nvSpPr>
        <p:spPr>
          <a:xfrm>
            <a:off x="5321808" y="594360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556248" y="5943600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763256" y="5916168"/>
            <a:ext cx="155448" cy="155448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531352" y="5897880"/>
            <a:ext cx="365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182880" y="6126480"/>
            <a:ext cx="8823960" cy="24688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01168" y="615391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201168" y="61539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50" dirty="0"/>
          </a:p>
        </p:txBody>
      </p:sp>
      <p:sp>
        <p:nvSpPr>
          <p:cNvPr id="187" name="Text 185"/>
          <p:cNvSpPr/>
          <p:nvPr/>
        </p:nvSpPr>
        <p:spPr>
          <a:xfrm>
            <a:off x="438912" y="61539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Alonso-Vazquez et al. (2025) | EEG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4087368" y="620877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321808" y="620877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56248" y="6208776"/>
            <a:ext cx="100584" cy="100584"/>
          </a:xfrm>
          <a:prstGeom prst="ellipse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763256" y="6181344"/>
            <a:ext cx="155448" cy="155448"/>
          </a:xfrm>
          <a:prstGeom prst="ellipse">
            <a:avLst/>
          </a:prstGeom>
          <a:solidFill>
            <a:srgbClr val="3B6D11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8288" y="822960"/>
            <a:ext cx="155448" cy="3410712"/>
          </a:xfrm>
          <a:prstGeom prst="roundRect">
            <a:avLst>
              <a:gd name="adj" fmla="val 23529"/>
            </a:avLst>
          </a:prstGeom>
          <a:solidFill>
            <a:srgbClr val="DEEAF1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 rot="16200000">
            <a:off x="18288" y="822960"/>
            <a:ext cx="155448" cy="3410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18288" y="4270248"/>
            <a:ext cx="155448" cy="493776"/>
          </a:xfrm>
          <a:prstGeom prst="roundRect">
            <a:avLst>
              <a:gd name="adj" fmla="val 23529"/>
            </a:avLst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 rot="16200000">
            <a:off x="18288" y="4270248"/>
            <a:ext cx="155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18288" y="4800600"/>
            <a:ext cx="155448" cy="228600"/>
          </a:xfrm>
          <a:prstGeom prst="roundRect">
            <a:avLst>
              <a:gd name="adj" fmla="val 23529"/>
            </a:avLst>
          </a:prstGeom>
          <a:solidFill>
            <a:srgbClr val="FFF2CC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 rot="16200000">
            <a:off x="18288" y="4800600"/>
            <a:ext cx="155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18288" y="5065776"/>
            <a:ext cx="155448" cy="1289304"/>
          </a:xfrm>
          <a:prstGeom prst="roundRect">
            <a:avLst>
              <a:gd name="adj" fmla="val 23529"/>
            </a:avLst>
          </a:prstGeom>
          <a:solidFill>
            <a:srgbClr val="FCE4D6"/>
          </a:solidFill>
          <a:ln w="12700">
            <a:solidFill>
              <a:srgbClr val="843C0C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 rot="16200000">
            <a:off x="18288" y="5065776"/>
            <a:ext cx="155448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182880" y="6501384"/>
            <a:ext cx="8641080" cy="329184"/>
          </a:xfrm>
          <a:prstGeom prst="roundRect">
            <a:avLst>
              <a:gd name="adj" fmla="val 13889"/>
            </a:avLst>
          </a:prstGeom>
          <a:solidFill>
            <a:srgbClr val="FFD7D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228600" y="6501384"/>
            <a:ext cx="8549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of 71 studies (56%) — NO generalization beyond single participant / single session  |  Cross-session: 2 studies only  |  Cross-language: 2 studies only</a:t>
            </a:r>
            <a:endParaRPr lang="en-US" sz="850" dirty="0"/>
          </a:p>
        </p:txBody>
      </p:sp>
      <p:sp>
        <p:nvSpPr>
          <p:cNvPr id="202" name="Text 200"/>
          <p:cNvSpPr/>
          <p:nvPr/>
        </p:nvSpPr>
        <p:spPr>
          <a:xfrm>
            <a:off x="9052560" y="777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9052560" y="1097280"/>
            <a:ext cx="201168" cy="201168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9308592" y="1097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evidence</a:t>
            </a:r>
            <a:endParaRPr lang="en-US" sz="750" dirty="0"/>
          </a:p>
        </p:txBody>
      </p:sp>
      <p:sp>
        <p:nvSpPr>
          <p:cNvPr id="205" name="Shape 203"/>
          <p:cNvSpPr/>
          <p:nvPr/>
        </p:nvSpPr>
        <p:spPr>
          <a:xfrm>
            <a:off x="9052560" y="150876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9052560" y="1508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½</a:t>
            </a:r>
            <a:endParaRPr lang="en-US" sz="600" dirty="0"/>
          </a:p>
        </p:txBody>
      </p:sp>
      <p:sp>
        <p:nvSpPr>
          <p:cNvPr id="207" name="Text 205"/>
          <p:cNvSpPr/>
          <p:nvPr/>
        </p:nvSpPr>
        <p:spPr>
          <a:xfrm>
            <a:off x="9308592" y="15087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evidence (½)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9079992" y="1947672"/>
            <a:ext cx="146304" cy="146304"/>
          </a:xfrm>
          <a:prstGeom prst="ellipse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9308592" y="1920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</a:t>
            </a:r>
            <a:endParaRPr lang="en-US" sz="750" dirty="0"/>
          </a:p>
        </p:txBody>
      </p:sp>
      <p:sp>
        <p:nvSpPr>
          <p:cNvPr id="210" name="Text 208"/>
          <p:cNvSpPr/>
          <p:nvPr/>
        </p:nvSpPr>
        <p:spPr>
          <a:xfrm>
            <a:off x="9052560" y="2468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9052560" y="2743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052560" y="2743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9299448" y="27432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Invasive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9052560" y="31272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9052560" y="31272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  <p:sp>
        <p:nvSpPr>
          <p:cNvPr id="216" name="Text 214"/>
          <p:cNvSpPr/>
          <p:nvPr/>
        </p:nvSpPr>
        <p:spPr>
          <a:xfrm>
            <a:off x="9299448" y="31272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</a:t>
            </a:r>
            <a:endParaRPr lang="en-US" sz="750" dirty="0"/>
          </a:p>
        </p:txBody>
      </p:sp>
      <p:sp>
        <p:nvSpPr>
          <p:cNvPr id="217" name="Shape 215"/>
          <p:cNvSpPr/>
          <p:nvPr/>
        </p:nvSpPr>
        <p:spPr>
          <a:xfrm>
            <a:off x="9052560" y="35112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9052560" y="35112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00" dirty="0"/>
          </a:p>
        </p:txBody>
      </p:sp>
      <p:sp>
        <p:nvSpPr>
          <p:cNvPr id="219" name="Text 217"/>
          <p:cNvSpPr/>
          <p:nvPr/>
        </p:nvSpPr>
        <p:spPr>
          <a:xfrm>
            <a:off x="9299448" y="35112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MEG/fMRI</a:t>
            </a: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9052560" y="38953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9052560" y="38953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00" dirty="0"/>
          </a:p>
        </p:txBody>
      </p:sp>
      <p:sp>
        <p:nvSpPr>
          <p:cNvPr id="222" name="Text 220"/>
          <p:cNvSpPr/>
          <p:nvPr/>
        </p:nvSpPr>
        <p:spPr>
          <a:xfrm>
            <a:off x="9299448" y="38953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9052560" y="42793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052560" y="4279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700" dirty="0"/>
          </a:p>
        </p:txBody>
      </p:sp>
      <p:sp>
        <p:nvSpPr>
          <p:cNvPr id="225" name="Text 223"/>
          <p:cNvSpPr/>
          <p:nvPr/>
        </p:nvSpPr>
        <p:spPr>
          <a:xfrm>
            <a:off x="9299448" y="42793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226" name="Text 224"/>
          <p:cNvSpPr/>
          <p:nvPr/>
        </p:nvSpPr>
        <p:spPr>
          <a:xfrm>
            <a:off x="182880" y="6601968"/>
            <a:ext cx="11887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6. Generalization evidence map for 21 of 71 included studies. Filled circles = primary evidence; half-filled (½) = secondary/partial. CP=cross-participant; CS=cross-session; CL=cross-language; CM=cross-modal. Red bar: 40/71 studies (56%) showed no generalization beyond single participant and single session.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6 — Generalization Evidence Map</dc:title>
  <dc:subject>PptxGenJS Presentation</dc:subject>
  <dc:creator>Adeika &amp; Osuagwu</dc:creator>
  <cp:lastModifiedBy>Adeika &amp; Osuagwu</cp:lastModifiedBy>
  <cp:revision>1</cp:revision>
  <dcterms:created xsi:type="dcterms:W3CDTF">2026-05-04T20:24:32Z</dcterms:created>
  <dcterms:modified xsi:type="dcterms:W3CDTF">2026-05-04T20:24:32Z</dcterms:modified>
</cp:coreProperties>
</file>