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45720"/>
            <a:ext cx="1179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 |  AI Architecture Evolution in Brain-to-Speech Decoding  |  2015–2026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bars show approximate periods of dominance — overlap is intentional. Landmark studies annotated at key transitions (full details: Table 3).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132320" y="5623560"/>
            <a:ext cx="4572000" cy="658368"/>
          </a:xfrm>
          <a:prstGeom prst="roundRect">
            <a:avLst>
              <a:gd name="adj" fmla="val 6944"/>
            </a:avLst>
          </a:prstGeom>
          <a:solidFill>
            <a:srgbClr val="E8F8F5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5472" y="5751576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6  |  LLM-integrated &amp; Foundation Models  (2022 → present)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750040" y="58064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217920" y="4828032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CE4D6"/>
          </a:solidFill>
          <a:ln w="19050">
            <a:solidFill>
              <a:srgbClr val="843C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4956048"/>
            <a:ext cx="5340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5  |  SSL / Contrastive Pre-training  (2021 → present)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50040" y="50109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17920" y="4032504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EAD1F5"/>
          </a:solidFill>
          <a:ln w="19050">
            <a:solidFill>
              <a:srgbClr val="4B00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4160520"/>
            <a:ext cx="5340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4  |  Transformer / Self-attention  (2021 → present)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750040" y="421538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89120" y="3236976"/>
            <a:ext cx="3657600" cy="658368"/>
          </a:xfrm>
          <a:prstGeom prst="roundRect">
            <a:avLst>
              <a:gd name="adj" fmla="val 6944"/>
            </a:avLst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336499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3  |  Encoder-Decoder / Seq2Seq  (2019–2023)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750040" y="341985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0" y="2441448"/>
            <a:ext cx="4572000" cy="658368"/>
          </a:xfrm>
          <a:prstGeom prst="roundRect">
            <a:avLst>
              <a:gd name="adj" fmla="val 6944"/>
            </a:avLst>
          </a:prstGeom>
          <a:solidFill>
            <a:srgbClr val="DEEAF1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569464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2  |  CNN / RNN / LSTM  (2017–2022)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50040" y="262432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§4.2–4.3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1520" y="1645920"/>
            <a:ext cx="2743200" cy="658368"/>
          </a:xfrm>
          <a:prstGeom prst="roundRect">
            <a:avLst>
              <a:gd name="adj" fmla="val 6944"/>
            </a:avLst>
          </a:prstGeom>
          <a:solidFill>
            <a:srgbClr val="FFF2CC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177393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1  |  Traditional ML: HMM / SVM / LDA  (2015–2018)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50040" y="1828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6419088"/>
            <a:ext cx="114300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459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47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747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035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179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1323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0467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9611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99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755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743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789920" y="6419088"/>
            <a:ext cx="0" cy="82296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88752" y="6492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72000" y="6720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year →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1520" y="1901952"/>
            <a:ext cx="0" cy="384048"/>
          </a:xfrm>
          <a:prstGeom prst="line">
            <a:avLst/>
          </a:prstGeom>
          <a:noFill/>
          <a:ln w="8890">
            <a:solidFill>
              <a:srgbClr val="BA7517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" y="2221992"/>
            <a:ext cx="128016" cy="128016"/>
          </a:xfrm>
          <a:prstGeom prst="ellipse">
            <a:avLst/>
          </a:prstGeom>
          <a:solidFill>
            <a:srgbClr val="BA75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" y="1179576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BA7517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Herff 2015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Brain-to-Text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25%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560320" y="3118104"/>
            <a:ext cx="0" cy="384048"/>
          </a:xfrm>
          <a:prstGeom prst="line">
            <a:avLst/>
          </a:prstGeom>
          <a:noFill/>
          <a:ln w="8890">
            <a:solidFill>
              <a:srgbClr val="185FA5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96312" y="3054096"/>
            <a:ext cx="128016" cy="128016"/>
          </a:xfrm>
          <a:prstGeom prst="ellipse">
            <a:avLst/>
          </a:prstGeom>
          <a:solidFill>
            <a:srgbClr val="185F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93392" y="3694176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185FA5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Schirrmeister 2017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DeepConvNet CNN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389120" y="2697480"/>
            <a:ext cx="0" cy="384048"/>
          </a:xfrm>
          <a:prstGeom prst="line">
            <a:avLst/>
          </a:prstGeom>
          <a:noFill/>
          <a:ln w="8890">
            <a:solidFill>
              <a:srgbClr val="185FA5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25112" y="3017520"/>
            <a:ext cx="128016" cy="128016"/>
          </a:xfrm>
          <a:prstGeom prst="ellipse">
            <a:avLst/>
          </a:prstGeom>
          <a:solidFill>
            <a:srgbClr val="185F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22192" y="1975104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185FA5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Angrick 2019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 3D ECoG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389120" y="3913632"/>
            <a:ext cx="0" cy="384048"/>
          </a:xfrm>
          <a:prstGeom prst="line">
            <a:avLst/>
          </a:prstGeom>
          <a:noFill/>
          <a:ln w="8890">
            <a:solidFill>
              <a:srgbClr val="375623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25112" y="3849624"/>
            <a:ext cx="128016" cy="128016"/>
          </a:xfrm>
          <a:prstGeom prst="ellipse">
            <a:avLst/>
          </a:prstGeom>
          <a:solidFill>
            <a:srgbClr val="37562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22192" y="4489704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375623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Anumanchipalli 2019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Articulatory ED Nature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303520" y="3493008"/>
            <a:ext cx="0" cy="384048"/>
          </a:xfrm>
          <a:prstGeom prst="line">
            <a:avLst/>
          </a:prstGeom>
          <a:noFill/>
          <a:ln w="8890">
            <a:solidFill>
              <a:srgbClr val="375623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9512" y="3813048"/>
            <a:ext cx="128016" cy="128016"/>
          </a:xfrm>
          <a:prstGeom prst="ellipse">
            <a:avLst/>
          </a:prstGeom>
          <a:solidFill>
            <a:srgbClr val="37562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2770632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375623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 2020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RNN WER 3%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(constrained)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217920" y="4709160"/>
            <a:ext cx="0" cy="384048"/>
          </a:xfrm>
          <a:prstGeom prst="line">
            <a:avLst/>
          </a:prstGeom>
          <a:noFill/>
          <a:ln w="8890">
            <a:solidFill>
              <a:srgbClr val="4B0082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53912" y="4645152"/>
            <a:ext cx="128016" cy="128016"/>
          </a:xfrm>
          <a:prstGeom prst="ellipse">
            <a:avLst/>
          </a:prstGeom>
          <a:solidFill>
            <a:srgbClr val="4B00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50992" y="5285232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4B0082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2017→BCI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NLP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217920" y="5504688"/>
            <a:ext cx="0" cy="384048"/>
          </a:xfrm>
          <a:prstGeom prst="line">
            <a:avLst/>
          </a:prstGeom>
          <a:noFill/>
          <a:ln w="8890">
            <a:solidFill>
              <a:srgbClr val="843C0C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53912" y="5440680"/>
            <a:ext cx="128016" cy="128016"/>
          </a:xfrm>
          <a:prstGeom prst="ellipse">
            <a:avLst/>
          </a:prstGeom>
          <a:solidFill>
            <a:srgbClr val="843C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50992" y="6080760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843C0C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Kostas 2021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BENDR SSL EEG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132320" y="4288536"/>
            <a:ext cx="0" cy="384048"/>
          </a:xfrm>
          <a:prstGeom prst="line">
            <a:avLst/>
          </a:prstGeom>
          <a:noFill/>
          <a:ln w="8890">
            <a:solidFill>
              <a:srgbClr val="4B0082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68312" y="4608576"/>
            <a:ext cx="128016" cy="128016"/>
          </a:xfrm>
          <a:prstGeom prst="ellipse">
            <a:avLst/>
          </a:prstGeom>
          <a:solidFill>
            <a:srgbClr val="4B00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5392" y="3566160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4B0082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&amp; Ji 2022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Open-vocab TF+BART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046720" y="4709160"/>
            <a:ext cx="0" cy="384048"/>
          </a:xfrm>
          <a:prstGeom prst="line">
            <a:avLst/>
          </a:prstGeom>
          <a:noFill/>
          <a:ln w="8890">
            <a:solidFill>
              <a:srgbClr val="4B0082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82712" y="4645152"/>
            <a:ext cx="128016" cy="128016"/>
          </a:xfrm>
          <a:prstGeom prst="ellipse">
            <a:avLst/>
          </a:prstGeom>
          <a:solidFill>
            <a:srgbClr val="4B00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79792" y="5285232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4B0082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Défossez 2023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n=175 MEG/EEG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046720" y="5084064"/>
            <a:ext cx="0" cy="384048"/>
          </a:xfrm>
          <a:prstGeom prst="line">
            <a:avLst/>
          </a:prstGeom>
          <a:noFill/>
          <a:ln w="8890">
            <a:solidFill>
              <a:srgbClr val="843C0C">
                <a:alpha val="7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82712" y="5404104"/>
            <a:ext cx="128016" cy="128016"/>
          </a:xfrm>
          <a:prstGeom prst="ellipse">
            <a:avLst/>
          </a:prstGeom>
          <a:solidFill>
            <a:srgbClr val="843C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79792" y="4361688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843C0C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2023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BrainBERT iEEG SSL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046720" y="6300216"/>
            <a:ext cx="0" cy="384048"/>
          </a:xfrm>
          <a:prstGeom prst="line">
            <a:avLst/>
          </a:prstGeom>
          <a:noFill/>
          <a:ln w="8890">
            <a:solidFill>
              <a:srgbClr val="00796B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82712" y="6236208"/>
            <a:ext cx="128016" cy="128016"/>
          </a:xfrm>
          <a:prstGeom prst="ellipse">
            <a:avLst/>
          </a:prstGeom>
          <a:solidFill>
            <a:srgbClr val="007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79792" y="6876288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00796B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2023 fMRI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Brain-GPT 100% story ID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8961120" y="5879592"/>
            <a:ext cx="0" cy="384048"/>
          </a:xfrm>
          <a:prstGeom prst="line">
            <a:avLst/>
          </a:prstGeom>
          <a:noFill/>
          <a:ln w="8890">
            <a:solidFill>
              <a:srgbClr val="00796B">
                <a:alpha val="7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97112" y="6199632"/>
            <a:ext cx="128016" cy="128016"/>
          </a:xfrm>
          <a:prstGeom prst="ellipse">
            <a:avLst/>
          </a:prstGeom>
          <a:solidFill>
            <a:srgbClr val="007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94192" y="5157216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00796B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2024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2.5% NEJM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current best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875520" y="4288536"/>
            <a:ext cx="0" cy="384048"/>
          </a:xfrm>
          <a:prstGeom prst="line">
            <a:avLst/>
          </a:prstGeom>
          <a:noFill/>
          <a:ln w="8890">
            <a:solidFill>
              <a:srgbClr val="4B0082">
                <a:alpha val="7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11512" y="4608576"/>
            <a:ext cx="128016" cy="128016"/>
          </a:xfrm>
          <a:prstGeom prst="ellipse">
            <a:avLst/>
          </a:prstGeom>
          <a:solidFill>
            <a:srgbClr val="4B00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08592" y="3566160"/>
            <a:ext cx="1133856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4B0082">
                <a:alpha val="7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d'Ascoli 2025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n=723, 3 languages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3152" y="1627632"/>
            <a:ext cx="173736" cy="4773168"/>
          </a:xfrm>
          <a:prstGeom prst="rect">
            <a:avLst/>
          </a:prstGeom>
          <a:solidFill>
            <a:srgbClr val="1F4E79">
              <a:alpha val="10000"/>
            </a:srgbClr>
          </a:solidFill>
          <a:ln w="6350">
            <a:solidFill>
              <a:srgbClr val="1F4E79">
                <a:alpha val="3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 rot="5400000">
            <a:off x="0" y="3200400"/>
            <a:ext cx="1645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Edit any ERA bar or label by clicking it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274320" y="6931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 AI architecture evolution in brain-to-speech decoding, 2015–2026. Era boundaries reflect approximate periods of dominance; architectures co-exist across eras. Landmark studies are annotated at key transition points (full details in Table 3). Section references indicate where each architecture class is discussed in this review. Only 14/71 included studies (20%) integrate a language model despite LLM integration driving the largest WER reductions.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AI Architecture Evolution Timeline</dc:title>
  <dc:subject>PptxGenJS Presentation</dc:subject>
  <dc:creator>Adeika &amp; Osuagwu</dc:creator>
  <cp:lastModifiedBy>Adeika &amp; Osuagwu</cp:lastModifiedBy>
  <cp:revision>1</cp:revision>
  <dcterms:created xsi:type="dcterms:W3CDTF">2026-05-01T15:46:55Z</dcterms:created>
  <dcterms:modified xsi:type="dcterms:W3CDTF">2026-05-01T15:46:55Z</dcterms:modified>
</cp:coreProperties>
</file>